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0"/>
            <a:ext cx="10972" cy="6858000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148840" y="0"/>
            <a:ext cx="10972" cy="6858000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86200" y="0"/>
            <a:ext cx="10972" cy="6858000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23560" y="0"/>
            <a:ext cx="10972" cy="6858000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60920" y="0"/>
            <a:ext cx="10972" cy="6858000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98280" y="0"/>
            <a:ext cx="10972" cy="6858000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835640" y="0"/>
            <a:ext cx="10972" cy="6858000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097280"/>
            <a:ext cx="12191695" cy="10972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2514600"/>
            <a:ext cx="12191695" cy="10972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3931920"/>
            <a:ext cx="12191695" cy="10972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5349240"/>
            <a:ext cx="12191695" cy="10972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" y="6254496"/>
            <a:ext cx="1965960" cy="384048"/>
          </a:xfrm>
          <a:prstGeom prst="roundRect">
            <a:avLst/>
          </a:prstGeom>
          <a:solidFill>
            <a:srgbClr val="0D1D30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6309360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5D6FF"/>
                </a:solidFill>
                <a:latin typeface="Aptos"/>
              </a:rPr>
              <a:t>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" y="6300216"/>
            <a:ext cx="13533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A5B8CB"/>
                </a:solidFill>
                <a:latin typeface="Aptos"/>
              </a:rPr>
              <a:t>EMAIL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07791" y="6254496"/>
            <a:ext cx="1965960" cy="384048"/>
          </a:xfrm>
          <a:prstGeom prst="roundRect">
            <a:avLst/>
          </a:prstGeom>
          <a:solidFill>
            <a:srgbClr val="0D1D30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17520" y="6309360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5D6FF"/>
                </a:solidFill>
                <a:latin typeface="Aptos"/>
              </a:rPr>
              <a:t>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59" y="6300216"/>
            <a:ext cx="13533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A5B8CB"/>
                </a:solidFill>
                <a:latin typeface="Aptos"/>
              </a:rPr>
              <a:t>MEETING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75504" y="6254496"/>
            <a:ext cx="1965960" cy="384048"/>
          </a:xfrm>
          <a:prstGeom prst="roundRect">
            <a:avLst/>
          </a:prstGeom>
          <a:solidFill>
            <a:srgbClr val="0D1D30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85232" y="6309360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5D6FF"/>
                </a:solidFill>
                <a:latin typeface="Aptos"/>
              </a:rPr>
              <a:t>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05272" y="6300216"/>
            <a:ext cx="13533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A5B8CB"/>
                </a:solidFill>
                <a:latin typeface="Aptos"/>
              </a:rPr>
              <a:t>PLANNER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43215" y="6254496"/>
            <a:ext cx="1965960" cy="384048"/>
          </a:xfrm>
          <a:prstGeom prst="roundRect">
            <a:avLst/>
          </a:prstGeom>
          <a:solidFill>
            <a:srgbClr val="0D1D30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52943" y="6309360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5D6FF"/>
                </a:solidFill>
                <a:latin typeface="Aptos"/>
              </a:rPr>
              <a:t>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72983" y="6300216"/>
            <a:ext cx="13533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A5B8CB"/>
                </a:solidFill>
                <a:latin typeface="Aptos"/>
              </a:rPr>
              <a:t>RESEARCH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10928" y="6254496"/>
            <a:ext cx="1965960" cy="384048"/>
          </a:xfrm>
          <a:prstGeom prst="roundRect">
            <a:avLst/>
          </a:prstGeom>
          <a:solidFill>
            <a:srgbClr val="0D1D30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0655" y="6309360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5D6FF"/>
                </a:solidFill>
                <a:latin typeface="Aptos"/>
              </a:rPr>
              <a:t>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40696" y="6300216"/>
            <a:ext cx="13533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A5B8CB"/>
                </a:solidFill>
                <a:latin typeface="Aptos"/>
              </a:rPr>
              <a:t>CHAT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256032"/>
            <a:ext cx="594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5B8CB"/>
                </a:solidFill>
                <a:latin typeface="Aptos"/>
              </a:rPr>
              <a:t>01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256032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5D6FF"/>
                </a:solidFill>
                <a:latin typeface="Aptos"/>
              </a:rPr>
              <a:t>AI PRODUCTIVITY PROJECT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960120"/>
            <a:ext cx="557784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>
                <a:solidFill>
                  <a:srgbClr val="F5F9FF"/>
                </a:solidFill>
                <a:latin typeface="Aptos"/>
              </a:rPr>
              <a:t>WORKSMART AI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1508760"/>
            <a:ext cx="5806440" cy="1234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>
                <a:solidFill>
                  <a:srgbClr val="55D6FF"/>
                </a:solidFill>
                <a:latin typeface="Aptos"/>
              </a:rPr>
              <a:t>Automate routine work.
Keep people in control.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2648" y="2907792"/>
            <a:ext cx="5303520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>
                <a:solidFill>
                  <a:srgbClr val="A5B8CB"/>
                </a:solidFill>
                <a:latin typeface="Aptos"/>
              </a:rPr>
              <a:t>AI-powered workplace productivity assistant for email, meetings, planning, research and chatbot support.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2648" y="3931920"/>
            <a:ext cx="2011680" cy="420624"/>
          </a:xfrm>
          <a:prstGeom prst="roundRect">
            <a:avLst/>
          </a:prstGeom>
          <a:solidFill>
            <a:srgbClr val="8B7CFF"/>
          </a:solidFill>
          <a:ln>
            <a:solidFill>
              <a:srgbClr val="8B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31520" y="4023360"/>
            <a:ext cx="17830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00" b="1">
                <a:solidFill>
                  <a:srgbClr val="07111F"/>
                </a:solidFill>
                <a:latin typeface="Aptos"/>
              </a:rPr>
              <a:t>PROTOTYPE v2.0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2648" y="4681728"/>
            <a:ext cx="5120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5F9FF"/>
                </a:solidFill>
                <a:latin typeface="Aptos"/>
              </a:rPr>
              <a:t>Prepared by Tshidiso Prensence Monyela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2648" y="5029200"/>
            <a:ext cx="5120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A5B8CB"/>
                </a:solidFill>
                <a:latin typeface="Aptos"/>
              </a:rPr>
              <a:t>17 September 2026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720840" y="932688"/>
            <a:ext cx="4800600" cy="4983480"/>
          </a:xfrm>
          <a:prstGeom prst="roundRect">
            <a:avLst/>
          </a:prstGeom>
          <a:solidFill>
            <a:srgbClr val="0D1D30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976872" y="1170432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5D6FF"/>
                </a:solidFill>
                <a:latin typeface="Aptos"/>
              </a:rPr>
              <a:t>WORKSPACE DASHBOARD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967728" y="1627632"/>
            <a:ext cx="4297680" cy="566928"/>
          </a:xfrm>
          <a:prstGeom prst="roundRect">
            <a:avLst/>
          </a:prstGeom>
          <a:solidFill>
            <a:srgbClr val="11263C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104888" y="1737360"/>
            <a:ext cx="34747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55D6FF"/>
                </a:solidFill>
                <a:latin typeface="Aptos"/>
              </a:rPr>
              <a:t>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89520" y="1719072"/>
            <a:ext cx="1371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5F9FF"/>
                </a:solidFill>
                <a:latin typeface="Aptos"/>
              </a:rPr>
              <a:t>Email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98280" y="1719072"/>
            <a:ext cx="1920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5B8CB"/>
                </a:solidFill>
                <a:latin typeface="Aptos"/>
              </a:rPr>
              <a:t>Audience + tone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967728" y="2386584"/>
            <a:ext cx="4297680" cy="566928"/>
          </a:xfrm>
          <a:prstGeom prst="roundRect">
            <a:avLst/>
          </a:prstGeom>
          <a:solidFill>
            <a:srgbClr val="11263C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104888" y="2496312"/>
            <a:ext cx="34747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55D6FF"/>
                </a:solidFill>
                <a:latin typeface="Aptos"/>
              </a:rPr>
              <a:t>▤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89520" y="2478024"/>
            <a:ext cx="1371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5F9FF"/>
                </a:solidFill>
                <a:latin typeface="Aptos"/>
              </a:rPr>
              <a:t>Meeting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98280" y="2478024"/>
            <a:ext cx="1920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5B8CB"/>
                </a:solidFill>
                <a:latin typeface="Aptos"/>
              </a:rPr>
              <a:t>Summary + actions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967728" y="3145536"/>
            <a:ext cx="4297680" cy="566928"/>
          </a:xfrm>
          <a:prstGeom prst="roundRect">
            <a:avLst/>
          </a:prstGeom>
          <a:solidFill>
            <a:srgbClr val="11263C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104888" y="3255264"/>
            <a:ext cx="34747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55D6FF"/>
                </a:solidFill>
                <a:latin typeface="Aptos"/>
              </a:rPr>
              <a:t>◷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89520" y="3236976"/>
            <a:ext cx="1371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5F9FF"/>
                </a:solidFill>
                <a:latin typeface="Aptos"/>
              </a:rPr>
              <a:t>Planner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98280" y="3236976"/>
            <a:ext cx="1920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5B8CB"/>
                </a:solidFill>
                <a:latin typeface="Aptos"/>
              </a:rPr>
              <a:t>Priority + time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967728" y="3904487"/>
            <a:ext cx="4297680" cy="566928"/>
          </a:xfrm>
          <a:prstGeom prst="roundRect">
            <a:avLst/>
          </a:prstGeom>
          <a:solidFill>
            <a:srgbClr val="11263C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04888" y="4014215"/>
            <a:ext cx="34747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55D6FF"/>
                </a:solidFill>
                <a:latin typeface="Aptos"/>
              </a:rPr>
              <a:t>⌕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589520" y="3995927"/>
            <a:ext cx="1371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5F9FF"/>
                </a:solidFill>
                <a:latin typeface="Aptos"/>
              </a:rPr>
              <a:t>Research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098280" y="3995927"/>
            <a:ext cx="1920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5B8CB"/>
                </a:solidFill>
                <a:latin typeface="Aptos"/>
              </a:rPr>
              <a:t>Insights + review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6967728" y="4663440"/>
            <a:ext cx="4297680" cy="566928"/>
          </a:xfrm>
          <a:prstGeom prst="roundRect">
            <a:avLst/>
          </a:prstGeom>
          <a:solidFill>
            <a:srgbClr val="11263C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104888" y="4773168"/>
            <a:ext cx="347472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1">
                <a:solidFill>
                  <a:srgbClr val="55D6FF"/>
                </a:solidFill>
                <a:latin typeface="Aptos"/>
              </a:rPr>
              <a:t>◉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589520" y="4754879"/>
            <a:ext cx="13716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1">
                <a:solidFill>
                  <a:srgbClr val="F5F9FF"/>
                </a:solidFill>
                <a:latin typeface="Aptos"/>
              </a:rPr>
              <a:t>Chatbot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098280" y="4754879"/>
            <a:ext cx="1920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A5B8CB"/>
                </a:solidFill>
                <a:latin typeface="Aptos"/>
              </a:rPr>
              <a:t>Ask + respond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986016" y="5596128"/>
            <a:ext cx="4251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50" b="1">
                <a:solidFill>
                  <a:srgbClr val="8B7CFF"/>
                </a:solidFill>
                <a:latin typeface="Aptos"/>
              </a:rPr>
              <a:t>ROLE → TASK → CONTEXT → RULES → FORMAT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0"/>
            <a:ext cx="10972" cy="6858000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148840" y="0"/>
            <a:ext cx="10972" cy="6858000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86200" y="0"/>
            <a:ext cx="10972" cy="6858000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23560" y="0"/>
            <a:ext cx="10972" cy="6858000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60920" y="0"/>
            <a:ext cx="10972" cy="6858000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98280" y="0"/>
            <a:ext cx="10972" cy="6858000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835640" y="0"/>
            <a:ext cx="10972" cy="6858000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097280"/>
            <a:ext cx="12191695" cy="10972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2514600"/>
            <a:ext cx="12191695" cy="10972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3931920"/>
            <a:ext cx="12191695" cy="10972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5349240"/>
            <a:ext cx="12191695" cy="10972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" y="6254496"/>
            <a:ext cx="1965960" cy="384048"/>
          </a:xfrm>
          <a:prstGeom prst="roundRect">
            <a:avLst/>
          </a:prstGeom>
          <a:solidFill>
            <a:srgbClr val="0D1D30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6309360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5D6FF"/>
                </a:solidFill>
                <a:latin typeface="Aptos"/>
              </a:rPr>
              <a:t>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" y="6300216"/>
            <a:ext cx="13533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A5B8CB"/>
                </a:solidFill>
                <a:latin typeface="Aptos"/>
              </a:rPr>
              <a:t>EMAIL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07791" y="6254496"/>
            <a:ext cx="1965960" cy="384048"/>
          </a:xfrm>
          <a:prstGeom prst="roundRect">
            <a:avLst/>
          </a:prstGeom>
          <a:solidFill>
            <a:srgbClr val="0D1D30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17520" y="6309360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5D6FF"/>
                </a:solidFill>
                <a:latin typeface="Aptos"/>
              </a:rPr>
              <a:t>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59" y="6300216"/>
            <a:ext cx="13533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A5B8CB"/>
                </a:solidFill>
                <a:latin typeface="Aptos"/>
              </a:rPr>
              <a:t>MEETING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75504" y="6254496"/>
            <a:ext cx="1965960" cy="384048"/>
          </a:xfrm>
          <a:prstGeom prst="roundRect">
            <a:avLst/>
          </a:prstGeom>
          <a:solidFill>
            <a:srgbClr val="0D1D30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85232" y="6309360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5D6FF"/>
                </a:solidFill>
                <a:latin typeface="Aptos"/>
              </a:rPr>
              <a:t>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05272" y="6300216"/>
            <a:ext cx="13533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A5B8CB"/>
                </a:solidFill>
                <a:latin typeface="Aptos"/>
              </a:rPr>
              <a:t>PLANNER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43215" y="6254496"/>
            <a:ext cx="1965960" cy="384048"/>
          </a:xfrm>
          <a:prstGeom prst="roundRect">
            <a:avLst/>
          </a:prstGeom>
          <a:solidFill>
            <a:srgbClr val="0D1D30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52943" y="6309360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5D6FF"/>
                </a:solidFill>
                <a:latin typeface="Aptos"/>
              </a:rPr>
              <a:t>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72983" y="6300216"/>
            <a:ext cx="13533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A5B8CB"/>
                </a:solidFill>
                <a:latin typeface="Aptos"/>
              </a:rPr>
              <a:t>RESEARCH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10928" y="6254496"/>
            <a:ext cx="1965960" cy="384048"/>
          </a:xfrm>
          <a:prstGeom prst="roundRect">
            <a:avLst/>
          </a:prstGeom>
          <a:solidFill>
            <a:srgbClr val="0D1D30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0655" y="6309360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5D6FF"/>
                </a:solidFill>
                <a:latin typeface="Aptos"/>
              </a:rPr>
              <a:t>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40696" y="6300216"/>
            <a:ext cx="13533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A5B8CB"/>
                </a:solidFill>
                <a:latin typeface="Aptos"/>
              </a:rPr>
              <a:t>CHAT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256032"/>
            <a:ext cx="594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5B8CB"/>
                </a:solidFill>
                <a:latin typeface="Aptos"/>
              </a:rPr>
              <a:t>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256032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5D6FF"/>
                </a:solidFill>
                <a:latin typeface="Aptos"/>
              </a:rPr>
              <a:t>01 • PROBLEM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76656"/>
            <a:ext cx="108813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F5F9FF"/>
                </a:solidFill>
                <a:latin typeface="Aptos"/>
              </a:rPr>
              <a:t>The workplace problem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1243584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5B8CB"/>
                </a:solidFill>
                <a:latin typeface="Aptos"/>
              </a:rPr>
              <a:t>Routine information tasks compete with time for higher-value work.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1874519"/>
            <a:ext cx="2651760" cy="2331720"/>
          </a:xfrm>
          <a:prstGeom prst="roundRect">
            <a:avLst/>
          </a:prstGeom>
          <a:solidFill>
            <a:srgbClr val="0D1D30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8952" y="2020824"/>
            <a:ext cx="411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55D6FF"/>
                </a:solidFill>
                <a:latin typeface="Aptos"/>
              </a:rPr>
              <a:t>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80160" y="2029967"/>
            <a:ext cx="180136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F5F9FF"/>
                </a:solidFill>
                <a:latin typeface="Aptos"/>
              </a:rPr>
              <a:t>COMMUNICATION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8952" y="2496312"/>
            <a:ext cx="2322576" cy="1581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5B8CB"/>
                </a:solidFill>
                <a:latin typeface="Aptos"/>
              </a:rPr>
              <a:t>Drafting recurring emails can take time and produce inconsistent wording.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74720" y="1874519"/>
            <a:ext cx="2651760" cy="2331720"/>
          </a:xfrm>
          <a:prstGeom prst="roundRect">
            <a:avLst/>
          </a:prstGeom>
          <a:solidFill>
            <a:srgbClr val="0D1D30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39312" y="2020824"/>
            <a:ext cx="411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55D6FF"/>
                </a:solidFill>
                <a:latin typeface="Aptos"/>
              </a:rPr>
              <a:t>▤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60520" y="2029967"/>
            <a:ext cx="180136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F5F9FF"/>
                </a:solidFill>
                <a:latin typeface="Aptos"/>
              </a:rPr>
              <a:t>MEETINGS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39312" y="2496312"/>
            <a:ext cx="2322576" cy="1581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5B8CB"/>
                </a:solidFill>
                <a:latin typeface="Aptos"/>
              </a:rPr>
              <a:t>Important decisions, owners and deadlines can get buried inside long notes.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55080" y="1874519"/>
            <a:ext cx="2651760" cy="2331720"/>
          </a:xfrm>
          <a:prstGeom prst="roundRect">
            <a:avLst/>
          </a:prstGeom>
          <a:solidFill>
            <a:srgbClr val="0D1D30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19672" y="2020824"/>
            <a:ext cx="411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55D6FF"/>
                </a:solidFill>
                <a:latin typeface="Aptos"/>
              </a:rPr>
              <a:t>◷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40880" y="2029967"/>
            <a:ext cx="180136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F5F9FF"/>
                </a:solidFill>
                <a:latin typeface="Aptos"/>
              </a:rPr>
              <a:t>PLANNING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19672" y="2496312"/>
            <a:ext cx="2322576" cy="1581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5B8CB"/>
                </a:solidFill>
                <a:latin typeface="Aptos"/>
              </a:rPr>
              <a:t>People lose time deciding what to do first and how to fit tasks into the day.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235440" y="1874519"/>
            <a:ext cx="2651760" cy="2331720"/>
          </a:xfrm>
          <a:prstGeom prst="roundRect">
            <a:avLst/>
          </a:prstGeom>
          <a:solidFill>
            <a:srgbClr val="0D1D30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400032" y="2020824"/>
            <a:ext cx="411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55D6FF"/>
                </a:solidFill>
                <a:latin typeface="Aptos"/>
              </a:rPr>
              <a:t>⌕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921240" y="2029967"/>
            <a:ext cx="180136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F5F9FF"/>
                </a:solidFill>
                <a:latin typeface="Aptos"/>
              </a:rPr>
              <a:t>RESEARCH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00032" y="2496312"/>
            <a:ext cx="2322576" cy="1581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5B8CB"/>
                </a:solidFill>
                <a:latin typeface="Aptos"/>
              </a:rPr>
              <a:t>Turning large amounts of information into a useful starting summary is repetitive.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94360" y="4617720"/>
            <a:ext cx="10927080" cy="960120"/>
          </a:xfrm>
          <a:prstGeom prst="roundRect">
            <a:avLst/>
          </a:prstGeom>
          <a:solidFill>
            <a:srgbClr val="122D43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22960" y="4828032"/>
            <a:ext cx="960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300" b="1">
                <a:solidFill>
                  <a:srgbClr val="55D6FF"/>
                </a:solidFill>
                <a:latin typeface="Aptos"/>
              </a:rPr>
              <a:t>⚡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828800" y="4754880"/>
            <a:ext cx="9052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5D6FF"/>
                </a:solidFill>
                <a:latin typeface="Aptos"/>
              </a:rPr>
              <a:t>OPPORTUNITY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828800" y="5047488"/>
            <a:ext cx="905256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5F9FF"/>
                </a:solidFill>
                <a:latin typeface="Aptos"/>
              </a:rPr>
              <a:t>Standardise common workflows with AI while keeping human review in the loop.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0"/>
            <a:ext cx="10972" cy="6858000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148840" y="0"/>
            <a:ext cx="10972" cy="6858000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86200" y="0"/>
            <a:ext cx="10972" cy="6858000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23560" y="0"/>
            <a:ext cx="10972" cy="6858000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60920" y="0"/>
            <a:ext cx="10972" cy="6858000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98280" y="0"/>
            <a:ext cx="10972" cy="6858000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835640" y="0"/>
            <a:ext cx="10972" cy="6858000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097280"/>
            <a:ext cx="12191695" cy="10972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2514600"/>
            <a:ext cx="12191695" cy="10972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3931920"/>
            <a:ext cx="12191695" cy="10972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5349240"/>
            <a:ext cx="12191695" cy="10972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" y="6254496"/>
            <a:ext cx="1965960" cy="384048"/>
          </a:xfrm>
          <a:prstGeom prst="roundRect">
            <a:avLst/>
          </a:prstGeom>
          <a:solidFill>
            <a:srgbClr val="0D1D30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6309360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5D6FF"/>
                </a:solidFill>
                <a:latin typeface="Aptos"/>
              </a:rPr>
              <a:t>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" y="6300216"/>
            <a:ext cx="13533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A5B8CB"/>
                </a:solidFill>
                <a:latin typeface="Aptos"/>
              </a:rPr>
              <a:t>EMAIL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07791" y="6254496"/>
            <a:ext cx="1965960" cy="384048"/>
          </a:xfrm>
          <a:prstGeom prst="roundRect">
            <a:avLst/>
          </a:prstGeom>
          <a:solidFill>
            <a:srgbClr val="0D1D30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17520" y="6309360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5D6FF"/>
                </a:solidFill>
                <a:latin typeface="Aptos"/>
              </a:rPr>
              <a:t>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59" y="6300216"/>
            <a:ext cx="13533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A5B8CB"/>
                </a:solidFill>
                <a:latin typeface="Aptos"/>
              </a:rPr>
              <a:t>MEETING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75504" y="6254496"/>
            <a:ext cx="1965960" cy="384048"/>
          </a:xfrm>
          <a:prstGeom prst="roundRect">
            <a:avLst/>
          </a:prstGeom>
          <a:solidFill>
            <a:srgbClr val="0D1D30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85232" y="6309360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5D6FF"/>
                </a:solidFill>
                <a:latin typeface="Aptos"/>
              </a:rPr>
              <a:t>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05272" y="6300216"/>
            <a:ext cx="13533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A5B8CB"/>
                </a:solidFill>
                <a:latin typeface="Aptos"/>
              </a:rPr>
              <a:t>PLANNER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43215" y="6254496"/>
            <a:ext cx="1965960" cy="384048"/>
          </a:xfrm>
          <a:prstGeom prst="roundRect">
            <a:avLst/>
          </a:prstGeom>
          <a:solidFill>
            <a:srgbClr val="0D1D30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52943" y="6309360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5D6FF"/>
                </a:solidFill>
                <a:latin typeface="Aptos"/>
              </a:rPr>
              <a:t>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72983" y="6300216"/>
            <a:ext cx="13533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A5B8CB"/>
                </a:solidFill>
                <a:latin typeface="Aptos"/>
              </a:rPr>
              <a:t>RESEARCH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10928" y="6254496"/>
            <a:ext cx="1965960" cy="384048"/>
          </a:xfrm>
          <a:prstGeom prst="roundRect">
            <a:avLst/>
          </a:prstGeom>
          <a:solidFill>
            <a:srgbClr val="0D1D30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0655" y="6309360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5D6FF"/>
                </a:solidFill>
                <a:latin typeface="Aptos"/>
              </a:rPr>
              <a:t>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40696" y="6300216"/>
            <a:ext cx="13533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A5B8CB"/>
                </a:solidFill>
                <a:latin typeface="Aptos"/>
              </a:rPr>
              <a:t>CHAT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256032"/>
            <a:ext cx="594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5B8CB"/>
                </a:solidFill>
                <a:latin typeface="Aptos"/>
              </a:rPr>
              <a:t>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256032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5D6FF"/>
                </a:solidFill>
                <a:latin typeface="Aptos"/>
              </a:rPr>
              <a:t>02 • SOLUTION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76656"/>
            <a:ext cx="108813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F5F9FF"/>
                </a:solidFill>
                <a:latin typeface="Aptos"/>
              </a:rPr>
              <a:t>One assistant. Seven useful workflows.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1243584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5B8CB"/>
                </a:solidFill>
                <a:latin typeface="Aptos"/>
              </a:rPr>
              <a:t>The expanded prototype now includes five core workplace tools plus a Prompt Lab and Impact Estimator.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1783080"/>
            <a:ext cx="2651760" cy="1554480"/>
          </a:xfrm>
          <a:prstGeom prst="roundRect">
            <a:avLst/>
          </a:prstGeom>
          <a:solidFill>
            <a:srgbClr val="0D1D30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8952" y="1929384"/>
            <a:ext cx="411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55D6FF"/>
                </a:solidFill>
                <a:latin typeface="Aptos"/>
              </a:rPr>
              <a:t>✉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280160" y="1938528"/>
            <a:ext cx="180136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F5F9FF"/>
                </a:solidFill>
                <a:latin typeface="Aptos"/>
              </a:rPr>
              <a:t>Smart Email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58952" y="2404872"/>
            <a:ext cx="2322576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5B8CB"/>
                </a:solidFill>
                <a:latin typeface="Aptos"/>
              </a:rPr>
              <a:t>Context-based messages with audience + tone.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74720" y="1783080"/>
            <a:ext cx="2651760" cy="1554480"/>
          </a:xfrm>
          <a:prstGeom prst="roundRect">
            <a:avLst/>
          </a:prstGeom>
          <a:solidFill>
            <a:srgbClr val="0D1D30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39312" y="1929384"/>
            <a:ext cx="411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55D6FF"/>
                </a:solidFill>
                <a:latin typeface="Aptos"/>
              </a:rPr>
              <a:t>▤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60520" y="1938528"/>
            <a:ext cx="180136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F5F9FF"/>
                </a:solidFill>
                <a:latin typeface="Aptos"/>
              </a:rPr>
              <a:t>Meeting Notes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39312" y="2404872"/>
            <a:ext cx="2322576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5B8CB"/>
                </a:solidFill>
                <a:latin typeface="Aptos"/>
              </a:rPr>
              <a:t>Summary, decisions, actions and deadlines.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55080" y="1783080"/>
            <a:ext cx="2651760" cy="1554480"/>
          </a:xfrm>
          <a:prstGeom prst="roundRect">
            <a:avLst/>
          </a:prstGeom>
          <a:solidFill>
            <a:srgbClr val="0D1D30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19672" y="1929384"/>
            <a:ext cx="411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55D6FF"/>
                </a:solidFill>
                <a:latin typeface="Aptos"/>
              </a:rPr>
              <a:t>◷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40880" y="1938528"/>
            <a:ext cx="180136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F5F9FF"/>
                </a:solidFill>
                <a:latin typeface="Aptos"/>
              </a:rPr>
              <a:t>Task Planner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519672" y="2404872"/>
            <a:ext cx="2322576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5B8CB"/>
                </a:solidFill>
                <a:latin typeface="Aptos"/>
              </a:rPr>
              <a:t>Priority order and time-blocked schedule.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235440" y="1783080"/>
            <a:ext cx="2651760" cy="1554480"/>
          </a:xfrm>
          <a:prstGeom prst="roundRect">
            <a:avLst/>
          </a:prstGeom>
          <a:solidFill>
            <a:srgbClr val="0D1D30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400032" y="1929384"/>
            <a:ext cx="411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55D6FF"/>
                </a:solidFill>
                <a:latin typeface="Aptos"/>
              </a:rPr>
              <a:t>⌕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921240" y="1938528"/>
            <a:ext cx="180136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F5F9FF"/>
                </a:solidFill>
                <a:latin typeface="Aptos"/>
              </a:rPr>
              <a:t>Research Assistant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400032" y="2404872"/>
            <a:ext cx="2322576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5B8CB"/>
                </a:solidFill>
                <a:latin typeface="Aptos"/>
              </a:rPr>
              <a:t>Insights, recommendations and limitations.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94360" y="3657600"/>
            <a:ext cx="2651760" cy="1554480"/>
          </a:xfrm>
          <a:prstGeom prst="roundRect">
            <a:avLst/>
          </a:prstGeom>
          <a:solidFill>
            <a:srgbClr val="0D1D30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58952" y="3803904"/>
            <a:ext cx="411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55D6FF"/>
                </a:solidFill>
                <a:latin typeface="Aptos"/>
              </a:rPr>
              <a:t>◉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80160" y="3813048"/>
            <a:ext cx="180136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F5F9FF"/>
                </a:solidFill>
                <a:latin typeface="Aptos"/>
              </a:rPr>
              <a:t>Chatbot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58952" y="4279392"/>
            <a:ext cx="2322576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5B8CB"/>
                </a:solidFill>
                <a:latin typeface="Aptos"/>
              </a:rPr>
              <a:t>Conversational entry point to tools.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3474720" y="3657600"/>
            <a:ext cx="2651760" cy="1554480"/>
          </a:xfrm>
          <a:prstGeom prst="roundRect">
            <a:avLst/>
          </a:prstGeom>
          <a:solidFill>
            <a:srgbClr val="0D1D30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639312" y="3803904"/>
            <a:ext cx="411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8B7CFF"/>
                </a:solidFill>
                <a:latin typeface="Aptos"/>
              </a:rPr>
              <a:t>✦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160520" y="3813048"/>
            <a:ext cx="180136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F5F9FF"/>
                </a:solidFill>
                <a:latin typeface="Aptos"/>
              </a:rPr>
              <a:t>Prompt Lab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639312" y="4279392"/>
            <a:ext cx="2322576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5B8CB"/>
                </a:solidFill>
                <a:latin typeface="Aptos"/>
              </a:rPr>
              <a:t>Build structured prompts interactively.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355080" y="3657600"/>
            <a:ext cx="2651760" cy="1554480"/>
          </a:xfrm>
          <a:prstGeom prst="roundRect">
            <a:avLst/>
          </a:prstGeom>
          <a:solidFill>
            <a:srgbClr val="0D1D30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6519672" y="3803904"/>
            <a:ext cx="411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8B7CFF"/>
                </a:solidFill>
                <a:latin typeface="Aptos"/>
              </a:rPr>
              <a:t>↗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040880" y="3813048"/>
            <a:ext cx="180136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F5F9FF"/>
                </a:solidFill>
                <a:latin typeface="Aptos"/>
              </a:rPr>
              <a:t>Impact Estimator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519672" y="4279392"/>
            <a:ext cx="2322576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5B8CB"/>
                </a:solidFill>
                <a:latin typeface="Aptos"/>
              </a:rPr>
              <a:t>Illustrative time-saving calculation.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0"/>
            <a:ext cx="10972" cy="6858000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148840" y="0"/>
            <a:ext cx="10972" cy="6858000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86200" y="0"/>
            <a:ext cx="10972" cy="6858000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23560" y="0"/>
            <a:ext cx="10972" cy="6858000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60920" y="0"/>
            <a:ext cx="10972" cy="6858000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98280" y="0"/>
            <a:ext cx="10972" cy="6858000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835640" y="0"/>
            <a:ext cx="10972" cy="6858000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097280"/>
            <a:ext cx="12191695" cy="10972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2514600"/>
            <a:ext cx="12191695" cy="10972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3931920"/>
            <a:ext cx="12191695" cy="10972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5349240"/>
            <a:ext cx="12191695" cy="10972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" y="6254496"/>
            <a:ext cx="1965960" cy="384048"/>
          </a:xfrm>
          <a:prstGeom prst="roundRect">
            <a:avLst/>
          </a:prstGeom>
          <a:solidFill>
            <a:srgbClr val="0D1D30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6309360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5D6FF"/>
                </a:solidFill>
                <a:latin typeface="Aptos"/>
              </a:rPr>
              <a:t>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" y="6300216"/>
            <a:ext cx="13533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A5B8CB"/>
                </a:solidFill>
                <a:latin typeface="Aptos"/>
              </a:rPr>
              <a:t>EMAIL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07791" y="6254496"/>
            <a:ext cx="1965960" cy="384048"/>
          </a:xfrm>
          <a:prstGeom prst="roundRect">
            <a:avLst/>
          </a:prstGeom>
          <a:solidFill>
            <a:srgbClr val="0D1D30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17520" y="6309360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5D6FF"/>
                </a:solidFill>
                <a:latin typeface="Aptos"/>
              </a:rPr>
              <a:t>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59" y="6300216"/>
            <a:ext cx="13533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A5B8CB"/>
                </a:solidFill>
                <a:latin typeface="Aptos"/>
              </a:rPr>
              <a:t>MEETING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75504" y="6254496"/>
            <a:ext cx="1965960" cy="384048"/>
          </a:xfrm>
          <a:prstGeom prst="roundRect">
            <a:avLst/>
          </a:prstGeom>
          <a:solidFill>
            <a:srgbClr val="0D1D30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85232" y="6309360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5D6FF"/>
                </a:solidFill>
                <a:latin typeface="Aptos"/>
              </a:rPr>
              <a:t>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05272" y="6300216"/>
            <a:ext cx="13533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A5B8CB"/>
                </a:solidFill>
                <a:latin typeface="Aptos"/>
              </a:rPr>
              <a:t>PLANNER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43215" y="6254496"/>
            <a:ext cx="1965960" cy="384048"/>
          </a:xfrm>
          <a:prstGeom prst="roundRect">
            <a:avLst/>
          </a:prstGeom>
          <a:solidFill>
            <a:srgbClr val="0D1D30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52943" y="6309360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5D6FF"/>
                </a:solidFill>
                <a:latin typeface="Aptos"/>
              </a:rPr>
              <a:t>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72983" y="6300216"/>
            <a:ext cx="13533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A5B8CB"/>
                </a:solidFill>
                <a:latin typeface="Aptos"/>
              </a:rPr>
              <a:t>RESEARCH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10928" y="6254496"/>
            <a:ext cx="1965960" cy="384048"/>
          </a:xfrm>
          <a:prstGeom prst="roundRect">
            <a:avLst/>
          </a:prstGeom>
          <a:solidFill>
            <a:srgbClr val="0D1D30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0655" y="6309360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5D6FF"/>
                </a:solidFill>
                <a:latin typeface="Aptos"/>
              </a:rPr>
              <a:t>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40696" y="6300216"/>
            <a:ext cx="13533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A5B8CB"/>
                </a:solidFill>
                <a:latin typeface="Aptos"/>
              </a:rPr>
              <a:t>CHAT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256032"/>
            <a:ext cx="594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5B8CB"/>
                </a:solidFill>
                <a:latin typeface="Aptos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256032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5D6FF"/>
                </a:solidFill>
                <a:latin typeface="Aptos"/>
              </a:rPr>
              <a:t>03 • USER JOURNEY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76656"/>
            <a:ext cx="108813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F5F9FF"/>
                </a:solidFill>
                <a:latin typeface="Aptos"/>
              </a:rPr>
              <a:t>Simple user journey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1243584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5B8CB"/>
                </a:solidFill>
                <a:latin typeface="Aptos"/>
              </a:rPr>
              <a:t>The interface guides the user from raw workplace information to a reviewed result.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48640" y="1920240"/>
            <a:ext cx="1920240" cy="2423160"/>
          </a:xfrm>
          <a:prstGeom prst="roundRect">
            <a:avLst/>
          </a:prstGeom>
          <a:solidFill>
            <a:srgbClr val="0D1D30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3232" y="212140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5D6FF"/>
                </a:solidFill>
                <a:latin typeface="Aptos"/>
              </a:rPr>
              <a:t>01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2514600"/>
            <a:ext cx="155448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9FF"/>
                </a:solidFill>
                <a:latin typeface="Aptos"/>
              </a:rPr>
              <a:t>INPUT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3232" y="3035808"/>
            <a:ext cx="1554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5B8CB"/>
                </a:solidFill>
                <a:latin typeface="Aptos"/>
              </a:rPr>
              <a:t>Task, notes,
text or request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23744" y="2761488"/>
            <a:ext cx="34747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8B7CFF"/>
                </a:solidFill>
                <a:latin typeface="Aptos"/>
              </a:rPr>
              <a:t>→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852928" y="1920240"/>
            <a:ext cx="1920240" cy="2423160"/>
          </a:xfrm>
          <a:prstGeom prst="roundRect">
            <a:avLst/>
          </a:prstGeom>
          <a:solidFill>
            <a:srgbClr val="0D1D30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017520" y="212140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5D6FF"/>
                </a:solidFill>
                <a:latin typeface="Aptos"/>
              </a:rPr>
              <a:t>02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017520" y="2514600"/>
            <a:ext cx="155448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9FF"/>
                </a:solidFill>
                <a:latin typeface="Aptos"/>
              </a:rPr>
              <a:t>PROMPT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017520" y="3035808"/>
            <a:ext cx="1554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5B8CB"/>
                </a:solidFill>
                <a:latin typeface="Aptos"/>
              </a:rPr>
              <a:t>Structured AI
instructions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828032" y="2761488"/>
            <a:ext cx="34747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8B7CFF"/>
                </a:solidFill>
                <a:latin typeface="Aptos"/>
              </a:rPr>
              <a:t>→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157216" y="1920240"/>
            <a:ext cx="1920240" cy="2423160"/>
          </a:xfrm>
          <a:prstGeom prst="roundRect">
            <a:avLst/>
          </a:prstGeom>
          <a:solidFill>
            <a:srgbClr val="0D1D30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321807" y="212140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5D6FF"/>
                </a:solidFill>
                <a:latin typeface="Aptos"/>
              </a:rPr>
              <a:t>03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321807" y="2514600"/>
            <a:ext cx="155448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9FF"/>
                </a:solidFill>
                <a:latin typeface="Aptos"/>
              </a:rPr>
              <a:t>AI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321807" y="3035808"/>
            <a:ext cx="1554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5B8CB"/>
                </a:solidFill>
                <a:latin typeface="Aptos"/>
              </a:rPr>
              <a:t>Generate or
organise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132320" y="2761488"/>
            <a:ext cx="34747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8B7CFF"/>
                </a:solidFill>
                <a:latin typeface="Aptos"/>
              </a:rPr>
              <a:t>→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461504" y="1920240"/>
            <a:ext cx="1920240" cy="2423160"/>
          </a:xfrm>
          <a:prstGeom prst="roundRect">
            <a:avLst/>
          </a:prstGeom>
          <a:solidFill>
            <a:srgbClr val="0D1D30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626096" y="212140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5D6FF"/>
                </a:solidFill>
                <a:latin typeface="Aptos"/>
              </a:rPr>
              <a:t>04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26096" y="2514600"/>
            <a:ext cx="155448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9FF"/>
                </a:solidFill>
                <a:latin typeface="Aptos"/>
              </a:rPr>
              <a:t>REVIEW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626096" y="3035808"/>
            <a:ext cx="1554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5B8CB"/>
                </a:solidFill>
                <a:latin typeface="Aptos"/>
              </a:rPr>
              <a:t>Check facts,
tone and risks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436608" y="2761488"/>
            <a:ext cx="347472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8B7CFF"/>
                </a:solidFill>
                <a:latin typeface="Aptos"/>
              </a:rPr>
              <a:t>→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9765792" y="1920240"/>
            <a:ext cx="1920240" cy="2423160"/>
          </a:xfrm>
          <a:prstGeom prst="roundRect">
            <a:avLst/>
          </a:prstGeom>
          <a:solidFill>
            <a:srgbClr val="0D1D30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930384" y="2121408"/>
            <a:ext cx="457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55D6FF"/>
                </a:solidFill>
                <a:latin typeface="Aptos"/>
              </a:rPr>
              <a:t>05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930384" y="2514600"/>
            <a:ext cx="1554480" cy="3017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5F9FF"/>
                </a:solidFill>
                <a:latin typeface="Aptos"/>
              </a:rPr>
              <a:t>OUTPUT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930384" y="3035808"/>
            <a:ext cx="1554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>
                <a:solidFill>
                  <a:srgbClr val="A5B8CB"/>
                </a:solidFill>
                <a:latin typeface="Aptos"/>
              </a:rPr>
              <a:t>Ready-to-use
first draft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868680" y="4892040"/>
            <a:ext cx="10469880" cy="658368"/>
          </a:xfrm>
          <a:prstGeom prst="roundRect">
            <a:avLst/>
          </a:prstGeom>
          <a:solidFill>
            <a:srgbClr val="102539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1051560" y="5093208"/>
            <a:ext cx="101041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F5F9FF"/>
                </a:solidFill>
                <a:latin typeface="Aptos"/>
              </a:rPr>
              <a:t>Design principle: AI accelerates routine work; the professional remains responsible for the final output.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0"/>
            <a:ext cx="10972" cy="6858000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148840" y="0"/>
            <a:ext cx="10972" cy="6858000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86200" y="0"/>
            <a:ext cx="10972" cy="6858000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23560" y="0"/>
            <a:ext cx="10972" cy="6858000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60920" y="0"/>
            <a:ext cx="10972" cy="6858000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98280" y="0"/>
            <a:ext cx="10972" cy="6858000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835640" y="0"/>
            <a:ext cx="10972" cy="6858000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097280"/>
            <a:ext cx="12191695" cy="10972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2514600"/>
            <a:ext cx="12191695" cy="10972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3931920"/>
            <a:ext cx="12191695" cy="10972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5349240"/>
            <a:ext cx="12191695" cy="10972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" y="6254496"/>
            <a:ext cx="1965960" cy="384048"/>
          </a:xfrm>
          <a:prstGeom prst="roundRect">
            <a:avLst/>
          </a:prstGeom>
          <a:solidFill>
            <a:srgbClr val="0D1D30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6309360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5D6FF"/>
                </a:solidFill>
                <a:latin typeface="Aptos"/>
              </a:rPr>
              <a:t>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" y="6300216"/>
            <a:ext cx="13533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A5B8CB"/>
                </a:solidFill>
                <a:latin typeface="Aptos"/>
              </a:rPr>
              <a:t>EMAIL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07791" y="6254496"/>
            <a:ext cx="1965960" cy="384048"/>
          </a:xfrm>
          <a:prstGeom prst="roundRect">
            <a:avLst/>
          </a:prstGeom>
          <a:solidFill>
            <a:srgbClr val="0D1D30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17520" y="6309360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5D6FF"/>
                </a:solidFill>
                <a:latin typeface="Aptos"/>
              </a:rPr>
              <a:t>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59" y="6300216"/>
            <a:ext cx="13533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A5B8CB"/>
                </a:solidFill>
                <a:latin typeface="Aptos"/>
              </a:rPr>
              <a:t>MEETING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75504" y="6254496"/>
            <a:ext cx="1965960" cy="384048"/>
          </a:xfrm>
          <a:prstGeom prst="roundRect">
            <a:avLst/>
          </a:prstGeom>
          <a:solidFill>
            <a:srgbClr val="0D1D30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85232" y="6309360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5D6FF"/>
                </a:solidFill>
                <a:latin typeface="Aptos"/>
              </a:rPr>
              <a:t>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05272" y="6300216"/>
            <a:ext cx="13533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A5B8CB"/>
                </a:solidFill>
                <a:latin typeface="Aptos"/>
              </a:rPr>
              <a:t>PLANNER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43215" y="6254496"/>
            <a:ext cx="1965960" cy="384048"/>
          </a:xfrm>
          <a:prstGeom prst="roundRect">
            <a:avLst/>
          </a:prstGeom>
          <a:solidFill>
            <a:srgbClr val="0D1D30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52943" y="6309360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5D6FF"/>
                </a:solidFill>
                <a:latin typeface="Aptos"/>
              </a:rPr>
              <a:t>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72983" y="6300216"/>
            <a:ext cx="13533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A5B8CB"/>
                </a:solidFill>
                <a:latin typeface="Aptos"/>
              </a:rPr>
              <a:t>RESEARCH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10928" y="6254496"/>
            <a:ext cx="1965960" cy="384048"/>
          </a:xfrm>
          <a:prstGeom prst="roundRect">
            <a:avLst/>
          </a:prstGeom>
          <a:solidFill>
            <a:srgbClr val="0D1D30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0655" y="6309360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5D6FF"/>
                </a:solidFill>
                <a:latin typeface="Aptos"/>
              </a:rPr>
              <a:t>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40696" y="6300216"/>
            <a:ext cx="13533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A5B8CB"/>
                </a:solidFill>
                <a:latin typeface="Aptos"/>
              </a:rPr>
              <a:t>CHAT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256032"/>
            <a:ext cx="594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5B8CB"/>
                </a:solidFill>
                <a:latin typeface="Aptos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256032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5D6FF"/>
                </a:solidFill>
                <a:latin typeface="Aptos"/>
              </a:rPr>
              <a:t>04 • PROMPT ENGINEERING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76656"/>
            <a:ext cx="108813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F5F9FF"/>
                </a:solidFill>
                <a:latin typeface="Aptos"/>
              </a:rPr>
              <a:t>The AI instruction layer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1243584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5B8CB"/>
                </a:solidFill>
                <a:latin typeface="Aptos"/>
              </a:rPr>
              <a:t>WorkSmart demonstrates a repeatable prompt framework instead of relying on vague one-line instructions.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1828800"/>
            <a:ext cx="1938528" cy="1234440"/>
          </a:xfrm>
          <a:prstGeom prst="roundRect">
            <a:avLst/>
          </a:prstGeom>
          <a:solidFill>
            <a:srgbClr val="10263C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4088" y="1993392"/>
            <a:ext cx="1691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55D6FF"/>
                </a:solidFill>
                <a:latin typeface="Aptos"/>
              </a:rPr>
              <a:t>ROLE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4088" y="2350008"/>
            <a:ext cx="169164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5F9FF"/>
                </a:solidFill>
                <a:latin typeface="Aptos"/>
              </a:rPr>
              <a:t>Who is the AI?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898648" y="1828800"/>
            <a:ext cx="1938528" cy="1234440"/>
          </a:xfrm>
          <a:prstGeom prst="roundRect">
            <a:avLst/>
          </a:prstGeom>
          <a:solidFill>
            <a:srgbClr val="10263C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08376" y="1993392"/>
            <a:ext cx="1691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55D6FF"/>
                </a:solidFill>
                <a:latin typeface="Aptos"/>
              </a:rPr>
              <a:t>TASK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008376" y="2350008"/>
            <a:ext cx="169164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5F9FF"/>
                </a:solidFill>
                <a:latin typeface="Aptos"/>
              </a:rPr>
              <a:t>What should it do?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202936" y="1828800"/>
            <a:ext cx="1938528" cy="1234440"/>
          </a:xfrm>
          <a:prstGeom prst="roundRect">
            <a:avLst/>
          </a:prstGeom>
          <a:solidFill>
            <a:srgbClr val="10263C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312664" y="1993392"/>
            <a:ext cx="1691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55D6FF"/>
                </a:solidFill>
                <a:latin typeface="Aptos"/>
              </a:rPr>
              <a:t>CONTEXT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312664" y="2350008"/>
            <a:ext cx="169164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5F9FF"/>
                </a:solidFill>
                <a:latin typeface="Aptos"/>
              </a:rPr>
              <a:t>What does it know?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507224" y="1828800"/>
            <a:ext cx="1938528" cy="1234440"/>
          </a:xfrm>
          <a:prstGeom prst="roundRect">
            <a:avLst/>
          </a:prstGeom>
          <a:solidFill>
            <a:srgbClr val="10263C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616952" y="1993392"/>
            <a:ext cx="1691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55D6FF"/>
                </a:solidFill>
                <a:latin typeface="Aptos"/>
              </a:rPr>
              <a:t>RULES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616952" y="2350008"/>
            <a:ext cx="169164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5F9FF"/>
                </a:solidFill>
                <a:latin typeface="Aptos"/>
              </a:rPr>
              <a:t>What are the limits?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811512" y="1828800"/>
            <a:ext cx="1938528" cy="1234440"/>
          </a:xfrm>
          <a:prstGeom prst="roundRect">
            <a:avLst/>
          </a:prstGeom>
          <a:solidFill>
            <a:srgbClr val="10263C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921240" y="1993392"/>
            <a:ext cx="1691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00" b="1">
                <a:solidFill>
                  <a:srgbClr val="55D6FF"/>
                </a:solidFill>
                <a:latin typeface="Aptos"/>
              </a:rPr>
              <a:t>FORMAT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921240" y="2350008"/>
            <a:ext cx="1691640" cy="4023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F5F9FF"/>
                </a:solidFill>
                <a:latin typeface="Aptos"/>
              </a:rPr>
              <a:t>How should it return the answer?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31520" y="3401568"/>
            <a:ext cx="10698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1">
                <a:solidFill>
                  <a:srgbClr val="8B7CFF"/>
                </a:solidFill>
                <a:latin typeface="Aptos"/>
              </a:rPr>
              <a:t>SAMPLE REFINED PROMPT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31520" y="3730752"/>
            <a:ext cx="10698480" cy="1207008"/>
          </a:xfrm>
          <a:prstGeom prst="roundRect">
            <a:avLst/>
          </a:prstGeom>
          <a:solidFill>
            <a:srgbClr val="040C15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60120" y="3950208"/>
            <a:ext cx="10195560" cy="7680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40" b="0">
                <a:solidFill>
                  <a:srgbClr val="F5F9FF"/>
                </a:solidFill>
                <a:latin typeface="Aptos"/>
              </a:rPr>
              <a:t>Act as a professional workplace assistant. Draft a concise, respectful email to my manager requesting two days of leave. Use the user's supplied reason, do not invent missing facts, keep it under 150 words, and return a subject line followed by the email body.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1520" y="5257800"/>
            <a:ext cx="10698480" cy="42062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5D6FF"/>
                </a:solidFill>
                <a:latin typeface="Aptos"/>
              </a:rPr>
              <a:t>Better prompt → clearer constraints → more usable output → easier human validation.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0"/>
            <a:ext cx="10972" cy="6858000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148840" y="0"/>
            <a:ext cx="10972" cy="6858000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86200" y="0"/>
            <a:ext cx="10972" cy="6858000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23560" y="0"/>
            <a:ext cx="10972" cy="6858000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60920" y="0"/>
            <a:ext cx="10972" cy="6858000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98280" y="0"/>
            <a:ext cx="10972" cy="6858000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835640" y="0"/>
            <a:ext cx="10972" cy="6858000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097280"/>
            <a:ext cx="12191695" cy="10972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2514600"/>
            <a:ext cx="12191695" cy="10972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3931920"/>
            <a:ext cx="12191695" cy="10972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5349240"/>
            <a:ext cx="12191695" cy="10972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" y="6254496"/>
            <a:ext cx="1965960" cy="384048"/>
          </a:xfrm>
          <a:prstGeom prst="roundRect">
            <a:avLst/>
          </a:prstGeom>
          <a:solidFill>
            <a:srgbClr val="0D1D30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6309360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5D6FF"/>
                </a:solidFill>
                <a:latin typeface="Aptos"/>
              </a:rPr>
              <a:t>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" y="6300216"/>
            <a:ext cx="13533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A5B8CB"/>
                </a:solidFill>
                <a:latin typeface="Aptos"/>
              </a:rPr>
              <a:t>EMAIL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07791" y="6254496"/>
            <a:ext cx="1965960" cy="384048"/>
          </a:xfrm>
          <a:prstGeom prst="roundRect">
            <a:avLst/>
          </a:prstGeom>
          <a:solidFill>
            <a:srgbClr val="0D1D30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17520" y="6309360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5D6FF"/>
                </a:solidFill>
                <a:latin typeface="Aptos"/>
              </a:rPr>
              <a:t>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59" y="6300216"/>
            <a:ext cx="13533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A5B8CB"/>
                </a:solidFill>
                <a:latin typeface="Aptos"/>
              </a:rPr>
              <a:t>MEETING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75504" y="6254496"/>
            <a:ext cx="1965960" cy="384048"/>
          </a:xfrm>
          <a:prstGeom prst="roundRect">
            <a:avLst/>
          </a:prstGeom>
          <a:solidFill>
            <a:srgbClr val="0D1D30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85232" y="6309360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5D6FF"/>
                </a:solidFill>
                <a:latin typeface="Aptos"/>
              </a:rPr>
              <a:t>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05272" y="6300216"/>
            <a:ext cx="13533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A5B8CB"/>
                </a:solidFill>
                <a:latin typeface="Aptos"/>
              </a:rPr>
              <a:t>PLANNER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43215" y="6254496"/>
            <a:ext cx="1965960" cy="384048"/>
          </a:xfrm>
          <a:prstGeom prst="roundRect">
            <a:avLst/>
          </a:prstGeom>
          <a:solidFill>
            <a:srgbClr val="0D1D30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52943" y="6309360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5D6FF"/>
                </a:solidFill>
                <a:latin typeface="Aptos"/>
              </a:rPr>
              <a:t>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72983" y="6300216"/>
            <a:ext cx="13533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A5B8CB"/>
                </a:solidFill>
                <a:latin typeface="Aptos"/>
              </a:rPr>
              <a:t>RESEARCH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10928" y="6254496"/>
            <a:ext cx="1965960" cy="384048"/>
          </a:xfrm>
          <a:prstGeom prst="roundRect">
            <a:avLst/>
          </a:prstGeom>
          <a:solidFill>
            <a:srgbClr val="0D1D30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0655" y="6309360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5D6FF"/>
                </a:solidFill>
                <a:latin typeface="Aptos"/>
              </a:rPr>
              <a:t>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40696" y="6300216"/>
            <a:ext cx="13533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A5B8CB"/>
                </a:solidFill>
                <a:latin typeface="Aptos"/>
              </a:rPr>
              <a:t>CHAT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256032"/>
            <a:ext cx="594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5B8CB"/>
                </a:solidFill>
                <a:latin typeface="Aptos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256032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5D6FF"/>
                </a:solidFill>
                <a:latin typeface="Aptos"/>
              </a:rPr>
              <a:t>05 • PROTOTYPE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76656"/>
            <a:ext cx="108813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F5F9FF"/>
                </a:solidFill>
                <a:latin typeface="Aptos"/>
              </a:rPr>
              <a:t>Prototype experience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1243584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5B8CB"/>
                </a:solidFill>
                <a:latin typeface="Aptos"/>
              </a:rPr>
              <a:t>The live demo is designed like a lightweight productivity dashboard.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1783080"/>
            <a:ext cx="10744200" cy="4251960"/>
          </a:xfrm>
          <a:prstGeom prst="roundRect">
            <a:avLst/>
          </a:prstGeom>
          <a:solidFill>
            <a:srgbClr val="0D1D30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31520" y="1783080"/>
            <a:ext cx="10744200" cy="384048"/>
          </a:xfrm>
          <a:prstGeom prst="roundRect">
            <a:avLst/>
          </a:prstGeom>
          <a:solidFill>
            <a:srgbClr val="112335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932688" y="1901952"/>
            <a:ext cx="73152" cy="73152"/>
          </a:xfrm>
          <a:prstGeom prst="roundRect">
            <a:avLst/>
          </a:prstGeom>
          <a:solidFill>
            <a:srgbClr val="55D6FF"/>
          </a:solidFill>
          <a:ln>
            <a:solidFill>
              <a:srgbClr val="55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1097280" y="1901952"/>
            <a:ext cx="73152" cy="73152"/>
          </a:xfrm>
          <a:prstGeom prst="roundRect">
            <a:avLst/>
          </a:prstGeom>
          <a:solidFill>
            <a:srgbClr val="8B7CFF"/>
          </a:solidFill>
          <a:ln>
            <a:solidFill>
              <a:srgbClr val="8B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1261872" y="1901952"/>
            <a:ext cx="73152" cy="73152"/>
          </a:xfrm>
          <a:prstGeom prst="roundRect">
            <a:avLst/>
          </a:prstGeom>
          <a:solidFill>
            <a:srgbClr val="66E3A8"/>
          </a:solidFill>
          <a:ln>
            <a:solidFill>
              <a:srgbClr val="66E3A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554480" y="1856231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0">
                <a:solidFill>
                  <a:srgbClr val="A5B8CB"/>
                </a:solidFill>
                <a:latin typeface="Aptos"/>
              </a:rPr>
              <a:t>worksmart-ai.local / prototype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32688" y="2359152"/>
            <a:ext cx="1874519" cy="3337560"/>
          </a:xfrm>
          <a:prstGeom prst="roundRect">
            <a:avLst/>
          </a:prstGeom>
          <a:solidFill>
            <a:srgbClr val="08131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115568" y="2514600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5D6FF"/>
                </a:solidFill>
                <a:latin typeface="Aptos"/>
              </a:rPr>
              <a:t>✉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490472" y="2514600"/>
            <a:ext cx="100584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F5F9FF"/>
                </a:solidFill>
                <a:latin typeface="Aptos"/>
              </a:rPr>
              <a:t>Email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5568" y="2907792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5D6FF"/>
                </a:solidFill>
                <a:latin typeface="Aptos"/>
              </a:rPr>
              <a:t>▤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490472" y="2907792"/>
            <a:ext cx="100584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F5F9FF"/>
                </a:solidFill>
                <a:latin typeface="Aptos"/>
              </a:rPr>
              <a:t>Meeting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15568" y="3300984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5D6FF"/>
                </a:solidFill>
                <a:latin typeface="Aptos"/>
              </a:rPr>
              <a:t>◷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490472" y="3300984"/>
            <a:ext cx="100584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F5F9FF"/>
                </a:solidFill>
                <a:latin typeface="Aptos"/>
              </a:rPr>
              <a:t>Planner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15568" y="3694176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5D6FF"/>
                </a:solidFill>
                <a:latin typeface="Aptos"/>
              </a:rPr>
              <a:t>⌕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490472" y="3694176"/>
            <a:ext cx="100584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F5F9FF"/>
                </a:solidFill>
                <a:latin typeface="Aptos"/>
              </a:rPr>
              <a:t>Research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15568" y="4087368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5D6FF"/>
                </a:solidFill>
                <a:latin typeface="Aptos"/>
              </a:rPr>
              <a:t>◉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490472" y="4087368"/>
            <a:ext cx="100584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F5F9FF"/>
                </a:solidFill>
                <a:latin typeface="Aptos"/>
              </a:rPr>
              <a:t>Chatbot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15568" y="4480560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5D6FF"/>
                </a:solidFill>
                <a:latin typeface="Aptos"/>
              </a:rPr>
              <a:t>✦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490472" y="4480560"/>
            <a:ext cx="100584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F5F9FF"/>
                </a:solidFill>
                <a:latin typeface="Aptos"/>
              </a:rPr>
              <a:t>Prompt Lab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15568" y="4873752"/>
            <a:ext cx="32004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5D6FF"/>
                </a:solidFill>
                <a:latin typeface="Aptos"/>
              </a:rPr>
              <a:t>↗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490472" y="4873752"/>
            <a:ext cx="1005840" cy="2103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F5F9FF"/>
                </a:solidFill>
                <a:latin typeface="Aptos"/>
              </a:rPr>
              <a:t>Impact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063240" y="2487168"/>
            <a:ext cx="384048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5F9FF"/>
                </a:solidFill>
                <a:latin typeface="Aptos"/>
              </a:rPr>
              <a:t>Smart Email Generator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063240" y="2971800"/>
            <a:ext cx="3337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A5B8CB"/>
                </a:solidFill>
                <a:latin typeface="Aptos"/>
              </a:rPr>
              <a:t>Audience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063240" y="3255264"/>
            <a:ext cx="2834640" cy="393192"/>
          </a:xfrm>
          <a:prstGeom prst="roundRect">
            <a:avLst/>
          </a:prstGeom>
          <a:solidFill>
            <a:srgbClr val="05111D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218688" y="3355848"/>
            <a:ext cx="2377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F5F9FF"/>
                </a:solidFill>
                <a:latin typeface="Aptos"/>
              </a:rPr>
              <a:t>Manager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144768" y="2971800"/>
            <a:ext cx="3337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A5B8CB"/>
                </a:solidFill>
                <a:latin typeface="Aptos"/>
              </a:rPr>
              <a:t>Tone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144768" y="3255264"/>
            <a:ext cx="2834640" cy="393192"/>
          </a:xfrm>
          <a:prstGeom prst="roundRect">
            <a:avLst/>
          </a:prstGeom>
          <a:solidFill>
            <a:srgbClr val="05111D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300216" y="3355848"/>
            <a:ext cx="23774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0">
                <a:solidFill>
                  <a:srgbClr val="F5F9FF"/>
                </a:solidFill>
                <a:latin typeface="Aptos"/>
              </a:rPr>
              <a:t>Professional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3063240" y="3886200"/>
            <a:ext cx="63093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A5B8CB"/>
                </a:solidFill>
                <a:latin typeface="Aptos"/>
              </a:rPr>
              <a:t>Context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3063240" y="4160520"/>
            <a:ext cx="7315200" cy="914400"/>
          </a:xfrm>
          <a:prstGeom prst="roundRect">
            <a:avLst/>
          </a:prstGeom>
          <a:solidFill>
            <a:srgbClr val="05111D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246120" y="4343400"/>
            <a:ext cx="6858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0">
                <a:solidFill>
                  <a:srgbClr val="F5F9FF"/>
                </a:solidFill>
                <a:latin typeface="Aptos"/>
              </a:rPr>
              <a:t>Request two days of leave to attend an important family event.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3063240" y="5276088"/>
            <a:ext cx="1645920" cy="347472"/>
          </a:xfrm>
          <a:prstGeom prst="roundRect">
            <a:avLst/>
          </a:prstGeom>
          <a:solidFill>
            <a:srgbClr val="55D6FF"/>
          </a:solidFill>
          <a:ln>
            <a:solidFill>
              <a:srgbClr val="55D6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063240" y="5358384"/>
            <a:ext cx="164592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00" b="1">
                <a:solidFill>
                  <a:srgbClr val="07111F"/>
                </a:solidFill>
                <a:latin typeface="Aptos"/>
              </a:rPr>
              <a:t>GENERATE EMAIL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8549640" y="2487168"/>
            <a:ext cx="1828800" cy="384048"/>
          </a:xfrm>
          <a:prstGeom prst="roundRect">
            <a:avLst/>
          </a:prstGeom>
          <a:solidFill>
            <a:srgbClr val="0F2C22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8668512" y="2587752"/>
            <a:ext cx="1572768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700" b="1">
                <a:solidFill>
                  <a:srgbClr val="66E3A8"/>
                </a:solidFill>
                <a:latin typeface="Aptos"/>
              </a:rPr>
              <a:t>✓ HUMAN REVIEW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0"/>
            <a:ext cx="10972" cy="6858000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148840" y="0"/>
            <a:ext cx="10972" cy="6858000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86200" y="0"/>
            <a:ext cx="10972" cy="6858000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23560" y="0"/>
            <a:ext cx="10972" cy="6858000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60920" y="0"/>
            <a:ext cx="10972" cy="6858000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98280" y="0"/>
            <a:ext cx="10972" cy="6858000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835640" y="0"/>
            <a:ext cx="10972" cy="6858000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097280"/>
            <a:ext cx="12191695" cy="10972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2514600"/>
            <a:ext cx="12191695" cy="10972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3931920"/>
            <a:ext cx="12191695" cy="10972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5349240"/>
            <a:ext cx="12191695" cy="10972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" y="6254496"/>
            <a:ext cx="1965960" cy="384048"/>
          </a:xfrm>
          <a:prstGeom prst="roundRect">
            <a:avLst/>
          </a:prstGeom>
          <a:solidFill>
            <a:srgbClr val="0D1D30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6309360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5D6FF"/>
                </a:solidFill>
                <a:latin typeface="Aptos"/>
              </a:rPr>
              <a:t>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" y="6300216"/>
            <a:ext cx="13533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A5B8CB"/>
                </a:solidFill>
                <a:latin typeface="Aptos"/>
              </a:rPr>
              <a:t>EMAIL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07791" y="6254496"/>
            <a:ext cx="1965960" cy="384048"/>
          </a:xfrm>
          <a:prstGeom prst="roundRect">
            <a:avLst/>
          </a:prstGeom>
          <a:solidFill>
            <a:srgbClr val="0D1D30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17520" y="6309360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5D6FF"/>
                </a:solidFill>
                <a:latin typeface="Aptos"/>
              </a:rPr>
              <a:t>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59" y="6300216"/>
            <a:ext cx="13533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A5B8CB"/>
                </a:solidFill>
                <a:latin typeface="Aptos"/>
              </a:rPr>
              <a:t>MEETING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75504" y="6254496"/>
            <a:ext cx="1965960" cy="384048"/>
          </a:xfrm>
          <a:prstGeom prst="roundRect">
            <a:avLst/>
          </a:prstGeom>
          <a:solidFill>
            <a:srgbClr val="0D1D30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85232" y="6309360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5D6FF"/>
                </a:solidFill>
                <a:latin typeface="Aptos"/>
              </a:rPr>
              <a:t>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05272" y="6300216"/>
            <a:ext cx="13533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A5B8CB"/>
                </a:solidFill>
                <a:latin typeface="Aptos"/>
              </a:rPr>
              <a:t>PLANNER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43215" y="6254496"/>
            <a:ext cx="1965960" cy="384048"/>
          </a:xfrm>
          <a:prstGeom prst="roundRect">
            <a:avLst/>
          </a:prstGeom>
          <a:solidFill>
            <a:srgbClr val="0D1D30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52943" y="6309360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5D6FF"/>
                </a:solidFill>
                <a:latin typeface="Aptos"/>
              </a:rPr>
              <a:t>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72983" y="6300216"/>
            <a:ext cx="13533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A5B8CB"/>
                </a:solidFill>
                <a:latin typeface="Aptos"/>
              </a:rPr>
              <a:t>RESEARCH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10928" y="6254496"/>
            <a:ext cx="1965960" cy="384048"/>
          </a:xfrm>
          <a:prstGeom prst="roundRect">
            <a:avLst/>
          </a:prstGeom>
          <a:solidFill>
            <a:srgbClr val="0D1D30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0655" y="6309360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5D6FF"/>
                </a:solidFill>
                <a:latin typeface="Aptos"/>
              </a:rPr>
              <a:t>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40696" y="6300216"/>
            <a:ext cx="13533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A5B8CB"/>
                </a:solidFill>
                <a:latin typeface="Aptos"/>
              </a:rPr>
              <a:t>CHAT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256032"/>
            <a:ext cx="594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5B8CB"/>
                </a:solidFill>
                <a:latin typeface="Aptos"/>
              </a:rPr>
              <a:t>07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256032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5D6FF"/>
                </a:solidFill>
                <a:latin typeface="Aptos"/>
              </a:rPr>
              <a:t>06 • TESTING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76656"/>
            <a:ext cx="108813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F5F9FF"/>
                </a:solidFill>
                <a:latin typeface="Aptos"/>
              </a:rPr>
              <a:t>Prompt testing &amp; output quality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1243584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5B8CB"/>
                </a:solidFill>
                <a:latin typeface="Aptos"/>
              </a:rPr>
              <a:t>The project treats AI output as a draft that must be checked, not as an automatic final answer.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1828800"/>
            <a:ext cx="3429000" cy="2468880"/>
          </a:xfrm>
          <a:prstGeom prst="roundRect">
            <a:avLst/>
          </a:prstGeom>
          <a:solidFill>
            <a:srgbClr val="0D1D30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4671" y="1975104"/>
            <a:ext cx="411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8B7CFF"/>
                </a:solidFill>
                <a:latin typeface="Aptos"/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25880" y="1984248"/>
            <a:ext cx="257860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F5F9FF"/>
                </a:solidFill>
                <a:latin typeface="Aptos"/>
              </a:rPr>
              <a:t>BASIC PROMPT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1" y="2450592"/>
            <a:ext cx="3099816" cy="1719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5B8CB"/>
                </a:solidFill>
                <a:latin typeface="Aptos"/>
              </a:rPr>
              <a:t>“Write an email to my manager.”
• Little context
• Undefined tone
• Undefined output format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70832" y="1828800"/>
            <a:ext cx="3429000" cy="2468880"/>
          </a:xfrm>
          <a:prstGeom prst="roundRect">
            <a:avLst/>
          </a:prstGeom>
          <a:solidFill>
            <a:srgbClr val="0D1D30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35424" y="1975104"/>
            <a:ext cx="411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55D6FF"/>
                </a:solidFill>
                <a:latin typeface="Aptos"/>
              </a:rP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56632" y="1984248"/>
            <a:ext cx="257860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F5F9FF"/>
                </a:solidFill>
                <a:latin typeface="Aptos"/>
              </a:rPr>
              <a:t>REFINED PROMPT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35424" y="2450592"/>
            <a:ext cx="3099816" cy="1719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5B8CB"/>
                </a:solidFill>
                <a:latin typeface="Aptos"/>
              </a:rPr>
              <a:t>Role + task + context + rules + format
• More specific
• Reusable
• Easier to validate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01583" y="1828800"/>
            <a:ext cx="3429000" cy="2468880"/>
          </a:xfrm>
          <a:prstGeom prst="roundRect">
            <a:avLst/>
          </a:prstGeom>
          <a:solidFill>
            <a:srgbClr val="0D1D30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66175" y="1975104"/>
            <a:ext cx="411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66E3A8"/>
                </a:solidFill>
                <a:latin typeface="Aptos"/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87384" y="1984248"/>
            <a:ext cx="257860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F5F9FF"/>
                </a:solidFill>
                <a:latin typeface="Aptos"/>
              </a:rPr>
              <a:t>VALIDATION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66175" y="2450592"/>
            <a:ext cx="3099816" cy="17190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5B8CB"/>
                </a:solidFill>
                <a:latin typeface="Aptos"/>
              </a:rPr>
              <a:t>Check:
• facts and dates
• names and responsibilities
• tone and completeness
• unsupported claims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2960" y="4800600"/>
            <a:ext cx="10515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F5F9FF"/>
                </a:solidFill>
                <a:latin typeface="Aptos"/>
              </a:rPr>
              <a:t>Quality is assessed by relevance, consistency, factual accuracy and compliance with the requested format.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0"/>
            <a:ext cx="10972" cy="6858000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148840" y="0"/>
            <a:ext cx="10972" cy="6858000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86200" y="0"/>
            <a:ext cx="10972" cy="6858000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23560" y="0"/>
            <a:ext cx="10972" cy="6858000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60920" y="0"/>
            <a:ext cx="10972" cy="6858000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98280" y="0"/>
            <a:ext cx="10972" cy="6858000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835640" y="0"/>
            <a:ext cx="10972" cy="6858000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097280"/>
            <a:ext cx="12191695" cy="10972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2514600"/>
            <a:ext cx="12191695" cy="10972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3931920"/>
            <a:ext cx="12191695" cy="10972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5349240"/>
            <a:ext cx="12191695" cy="10972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" y="6254496"/>
            <a:ext cx="1965960" cy="384048"/>
          </a:xfrm>
          <a:prstGeom prst="roundRect">
            <a:avLst/>
          </a:prstGeom>
          <a:solidFill>
            <a:srgbClr val="0D1D30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6309360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5D6FF"/>
                </a:solidFill>
                <a:latin typeface="Aptos"/>
              </a:rPr>
              <a:t>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" y="6300216"/>
            <a:ext cx="13533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A5B8CB"/>
                </a:solidFill>
                <a:latin typeface="Aptos"/>
              </a:rPr>
              <a:t>EMAIL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07791" y="6254496"/>
            <a:ext cx="1965960" cy="384048"/>
          </a:xfrm>
          <a:prstGeom prst="roundRect">
            <a:avLst/>
          </a:prstGeom>
          <a:solidFill>
            <a:srgbClr val="0D1D30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17520" y="6309360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5D6FF"/>
                </a:solidFill>
                <a:latin typeface="Aptos"/>
              </a:rPr>
              <a:t>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59" y="6300216"/>
            <a:ext cx="13533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A5B8CB"/>
                </a:solidFill>
                <a:latin typeface="Aptos"/>
              </a:rPr>
              <a:t>MEETING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75504" y="6254496"/>
            <a:ext cx="1965960" cy="384048"/>
          </a:xfrm>
          <a:prstGeom prst="roundRect">
            <a:avLst/>
          </a:prstGeom>
          <a:solidFill>
            <a:srgbClr val="0D1D30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85232" y="6309360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5D6FF"/>
                </a:solidFill>
                <a:latin typeface="Aptos"/>
              </a:rPr>
              <a:t>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05272" y="6300216"/>
            <a:ext cx="13533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A5B8CB"/>
                </a:solidFill>
                <a:latin typeface="Aptos"/>
              </a:rPr>
              <a:t>PLANNER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43215" y="6254496"/>
            <a:ext cx="1965960" cy="384048"/>
          </a:xfrm>
          <a:prstGeom prst="roundRect">
            <a:avLst/>
          </a:prstGeom>
          <a:solidFill>
            <a:srgbClr val="0D1D30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52943" y="6309360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5D6FF"/>
                </a:solidFill>
                <a:latin typeface="Aptos"/>
              </a:rPr>
              <a:t>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72983" y="6300216"/>
            <a:ext cx="13533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A5B8CB"/>
                </a:solidFill>
                <a:latin typeface="Aptos"/>
              </a:rPr>
              <a:t>RESEARCH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10928" y="6254496"/>
            <a:ext cx="1965960" cy="384048"/>
          </a:xfrm>
          <a:prstGeom prst="roundRect">
            <a:avLst/>
          </a:prstGeom>
          <a:solidFill>
            <a:srgbClr val="0D1D30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0655" y="6309360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5D6FF"/>
                </a:solidFill>
                <a:latin typeface="Aptos"/>
              </a:rPr>
              <a:t>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40696" y="6300216"/>
            <a:ext cx="13533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A5B8CB"/>
                </a:solidFill>
                <a:latin typeface="Aptos"/>
              </a:rPr>
              <a:t>CHAT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256032"/>
            <a:ext cx="594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5B8CB"/>
                </a:solidFill>
                <a:latin typeface="Aptos"/>
              </a:rPr>
              <a:t>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256032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5D6FF"/>
                </a:solidFill>
                <a:latin typeface="Aptos"/>
              </a:rPr>
              <a:t>07 • NEW FEATURE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76656"/>
            <a:ext cx="108813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F5F9FF"/>
                </a:solidFill>
                <a:latin typeface="Aptos"/>
              </a:rPr>
              <a:t>Prompt Engineering Lab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1243584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5B8CB"/>
                </a:solidFill>
                <a:latin typeface="Aptos"/>
              </a:rPr>
              <a:t>An interactive feature that lets the user build a structured prompt before using an AI workflow.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1828800"/>
            <a:ext cx="5212080" cy="1143000"/>
          </a:xfrm>
          <a:prstGeom prst="roundRect">
            <a:avLst/>
          </a:prstGeom>
          <a:solidFill>
            <a:srgbClr val="0D1D30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4671" y="1975104"/>
            <a:ext cx="411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55D6FF"/>
                </a:solidFill>
                <a:latin typeface="Aptos"/>
              </a:rPr>
              <a:t>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25880" y="1984248"/>
            <a:ext cx="436168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F5F9FF"/>
                </a:solidFill>
                <a:latin typeface="Aptos"/>
              </a:rPr>
              <a:t>WORKFLOW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1" y="2450592"/>
            <a:ext cx="4882896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5B8CB"/>
                </a:solidFill>
                <a:latin typeface="Aptos"/>
              </a:rPr>
              <a:t>Email / Meeting / Planning / Research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1828800"/>
            <a:ext cx="5212080" cy="1143000"/>
          </a:xfrm>
          <a:prstGeom prst="roundRect">
            <a:avLst/>
          </a:prstGeom>
          <a:solidFill>
            <a:srgbClr val="0D1D30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82512" y="1975104"/>
            <a:ext cx="411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8B7CFF"/>
                </a:solidFill>
                <a:latin typeface="Aptos"/>
              </a:rPr>
              <a:t>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03720" y="1984248"/>
            <a:ext cx="436168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F5F9FF"/>
                </a:solidFill>
                <a:latin typeface="Aptos"/>
              </a:rPr>
              <a:t>AUDIENCE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82512" y="2450592"/>
            <a:ext cx="4882896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5B8CB"/>
                </a:solidFill>
                <a:latin typeface="Aptos"/>
              </a:rPr>
              <a:t>Who will use or receive the result?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" y="3246120"/>
            <a:ext cx="5212080" cy="1143000"/>
          </a:xfrm>
          <a:prstGeom prst="roundRect">
            <a:avLst/>
          </a:prstGeom>
          <a:solidFill>
            <a:srgbClr val="0D1D30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4671" y="3392424"/>
            <a:ext cx="411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55D6FF"/>
                </a:solidFill>
                <a:latin typeface="Aptos"/>
              </a:rPr>
              <a:t>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25880" y="3401568"/>
            <a:ext cx="436168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F5F9FF"/>
                </a:solidFill>
                <a:latin typeface="Aptos"/>
              </a:rPr>
              <a:t>GOAL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4671" y="3867911"/>
            <a:ext cx="4882896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5B8CB"/>
                </a:solidFill>
                <a:latin typeface="Aptos"/>
              </a:rPr>
              <a:t>What should the AI help accomplish?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17920" y="3246120"/>
            <a:ext cx="5212080" cy="1143000"/>
          </a:xfrm>
          <a:prstGeom prst="roundRect">
            <a:avLst/>
          </a:prstGeom>
          <a:solidFill>
            <a:srgbClr val="0D1D30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82512" y="3392424"/>
            <a:ext cx="411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8B7CFF"/>
                </a:solidFill>
                <a:latin typeface="Aptos"/>
              </a:rPr>
              <a:t>✦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03720" y="3401568"/>
            <a:ext cx="436168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F5F9FF"/>
                </a:solidFill>
                <a:latin typeface="Aptos"/>
              </a:rPr>
              <a:t>RULES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82512" y="3867911"/>
            <a:ext cx="4882896" cy="3931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5B8CB"/>
                </a:solidFill>
                <a:latin typeface="Aptos"/>
              </a:rPr>
              <a:t>Professional tone, no invented facts, concise output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40080" y="4800600"/>
            <a:ext cx="10698480" cy="685800"/>
          </a:xfrm>
          <a:prstGeom prst="roundRect">
            <a:avLst/>
          </a:prstGeom>
          <a:solidFill>
            <a:srgbClr val="10263A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68680" y="5010912"/>
            <a:ext cx="1024128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5F9FF"/>
                </a:solidFill>
                <a:latin typeface="Aptos"/>
              </a:rPr>
              <a:t>Result: a reusable structured prompt that can be copied into an approved AI tool for execution.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0"/>
            <a:ext cx="10972" cy="6858000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148840" y="0"/>
            <a:ext cx="10972" cy="6858000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86200" y="0"/>
            <a:ext cx="10972" cy="6858000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23560" y="0"/>
            <a:ext cx="10972" cy="6858000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60920" y="0"/>
            <a:ext cx="10972" cy="6858000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98280" y="0"/>
            <a:ext cx="10972" cy="6858000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835640" y="0"/>
            <a:ext cx="10972" cy="6858000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097280"/>
            <a:ext cx="12191695" cy="10972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2514600"/>
            <a:ext cx="12191695" cy="10972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3931920"/>
            <a:ext cx="12191695" cy="10972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5349240"/>
            <a:ext cx="12191695" cy="10972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" y="6254496"/>
            <a:ext cx="1965960" cy="384048"/>
          </a:xfrm>
          <a:prstGeom prst="roundRect">
            <a:avLst/>
          </a:prstGeom>
          <a:solidFill>
            <a:srgbClr val="0D1D30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6309360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5D6FF"/>
                </a:solidFill>
                <a:latin typeface="Aptos"/>
              </a:rPr>
              <a:t>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" y="6300216"/>
            <a:ext cx="13533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A5B8CB"/>
                </a:solidFill>
                <a:latin typeface="Aptos"/>
              </a:rPr>
              <a:t>EMAIL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07791" y="6254496"/>
            <a:ext cx="1965960" cy="384048"/>
          </a:xfrm>
          <a:prstGeom prst="roundRect">
            <a:avLst/>
          </a:prstGeom>
          <a:solidFill>
            <a:srgbClr val="0D1D30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17520" y="6309360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5D6FF"/>
                </a:solidFill>
                <a:latin typeface="Aptos"/>
              </a:rPr>
              <a:t>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59" y="6300216"/>
            <a:ext cx="13533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A5B8CB"/>
                </a:solidFill>
                <a:latin typeface="Aptos"/>
              </a:rPr>
              <a:t>MEETING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75504" y="6254496"/>
            <a:ext cx="1965960" cy="384048"/>
          </a:xfrm>
          <a:prstGeom prst="roundRect">
            <a:avLst/>
          </a:prstGeom>
          <a:solidFill>
            <a:srgbClr val="0D1D30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85232" y="6309360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5D6FF"/>
                </a:solidFill>
                <a:latin typeface="Aptos"/>
              </a:rPr>
              <a:t>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05272" y="6300216"/>
            <a:ext cx="13533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A5B8CB"/>
                </a:solidFill>
                <a:latin typeface="Aptos"/>
              </a:rPr>
              <a:t>PLANNER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43215" y="6254496"/>
            <a:ext cx="1965960" cy="384048"/>
          </a:xfrm>
          <a:prstGeom prst="roundRect">
            <a:avLst/>
          </a:prstGeom>
          <a:solidFill>
            <a:srgbClr val="0D1D30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52943" y="6309360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5D6FF"/>
                </a:solidFill>
                <a:latin typeface="Aptos"/>
              </a:rPr>
              <a:t>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72983" y="6300216"/>
            <a:ext cx="13533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A5B8CB"/>
                </a:solidFill>
                <a:latin typeface="Aptos"/>
              </a:rPr>
              <a:t>RESEARCH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10928" y="6254496"/>
            <a:ext cx="1965960" cy="384048"/>
          </a:xfrm>
          <a:prstGeom prst="roundRect">
            <a:avLst/>
          </a:prstGeom>
          <a:solidFill>
            <a:srgbClr val="0D1D30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0655" y="6309360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5D6FF"/>
                </a:solidFill>
                <a:latin typeface="Aptos"/>
              </a:rPr>
              <a:t>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40696" y="6300216"/>
            <a:ext cx="13533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A5B8CB"/>
                </a:solidFill>
                <a:latin typeface="Aptos"/>
              </a:rPr>
              <a:t>CHAT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256032"/>
            <a:ext cx="594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5B8CB"/>
                </a:solidFill>
                <a:latin typeface="Aptos"/>
              </a:rPr>
              <a:t>09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256032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5D6FF"/>
                </a:solidFill>
                <a:latin typeface="Aptos"/>
              </a:rPr>
              <a:t>08 • NEW FEATURE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76656"/>
            <a:ext cx="108813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F5F9FF"/>
                </a:solidFill>
                <a:latin typeface="Aptos"/>
              </a:rPr>
              <a:t>Productivity Impact Estimator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1243584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5B8CB"/>
                </a:solidFill>
                <a:latin typeface="Aptos"/>
              </a:rPr>
              <a:t>The prototype includes an illustrative calculator to connect AI automation with measurable workplace effort.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1783080"/>
            <a:ext cx="10698480" cy="960120"/>
          </a:xfrm>
          <a:prstGeom prst="roundRect">
            <a:avLst/>
          </a:prstGeom>
          <a:solidFill>
            <a:srgbClr val="0D1D30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05840" y="2011680"/>
            <a:ext cx="101498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700" b="1">
                <a:solidFill>
                  <a:srgbClr val="55D6FF"/>
                </a:solidFill>
                <a:latin typeface="Aptos"/>
              </a:rPr>
              <a:t>Weekly time difference = tasks per week × (minutes without AI − minutes with AI)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3154680"/>
            <a:ext cx="2971800" cy="1325880"/>
          </a:xfrm>
          <a:prstGeom prst="roundRect">
            <a:avLst/>
          </a:prstGeom>
          <a:solidFill>
            <a:srgbClr val="10263A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3401568"/>
            <a:ext cx="2971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F5F9FF"/>
                </a:solidFill>
                <a:latin typeface="Aptos"/>
              </a:rPr>
              <a:t>20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3904487"/>
            <a:ext cx="2971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A5B8CB"/>
                </a:solidFill>
                <a:latin typeface="Aptos"/>
              </a:rPr>
              <a:t>tasks / week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206240" y="3154680"/>
            <a:ext cx="2971800" cy="1325880"/>
          </a:xfrm>
          <a:prstGeom prst="roundRect">
            <a:avLst/>
          </a:prstGeom>
          <a:solidFill>
            <a:srgbClr val="10263A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206240" y="3401568"/>
            <a:ext cx="2971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F5F9FF"/>
                </a:solidFill>
                <a:latin typeface="Aptos"/>
              </a:rPr>
              <a:t>15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206240" y="3904487"/>
            <a:ext cx="2971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A5B8CB"/>
                </a:solidFill>
                <a:latin typeface="Aptos"/>
              </a:rPr>
              <a:t>minutes without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589520" y="3154680"/>
            <a:ext cx="2971800" cy="1325880"/>
          </a:xfrm>
          <a:prstGeom prst="roundRect">
            <a:avLst/>
          </a:prstGeom>
          <a:solidFill>
            <a:srgbClr val="10263A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589520" y="3401568"/>
            <a:ext cx="297180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500" b="1">
                <a:solidFill>
                  <a:srgbClr val="F5F9FF"/>
                </a:solidFill>
                <a:latin typeface="Aptos"/>
              </a:rP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589520" y="3904487"/>
            <a:ext cx="29718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50" b="1">
                <a:solidFill>
                  <a:srgbClr val="A5B8CB"/>
                </a:solidFill>
                <a:latin typeface="Aptos"/>
              </a:rPr>
              <a:t>minutes with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886200" y="4800600"/>
            <a:ext cx="4434840" cy="685800"/>
          </a:xfrm>
          <a:prstGeom prst="roundRect">
            <a:avLst/>
          </a:prstGeom>
          <a:solidFill>
            <a:srgbClr val="12353D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60520" y="5010912"/>
            <a:ext cx="38862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50" b="1">
                <a:solidFill>
                  <a:srgbClr val="66E3A8"/>
                </a:solidFill>
                <a:latin typeface="Aptos"/>
              </a:rPr>
              <a:t>Illustrative result: 200 minutes saved / week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" y="5650992"/>
            <a:ext cx="105156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819" b="1">
                <a:solidFill>
                  <a:srgbClr val="FFD166"/>
                </a:solidFill>
                <a:latin typeface="Aptos"/>
              </a:rPr>
              <a:t>Important: this is a planning estimate, not a measured productivity claim. Real tasks should be tested before reporting impact.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0"/>
            <a:ext cx="10972" cy="6858000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148840" y="0"/>
            <a:ext cx="10972" cy="6858000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86200" y="0"/>
            <a:ext cx="10972" cy="6858000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23560" y="0"/>
            <a:ext cx="10972" cy="6858000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60920" y="0"/>
            <a:ext cx="10972" cy="6858000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98280" y="0"/>
            <a:ext cx="10972" cy="6858000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835640" y="0"/>
            <a:ext cx="10972" cy="6858000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097280"/>
            <a:ext cx="12191695" cy="10972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2514600"/>
            <a:ext cx="12191695" cy="10972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3931920"/>
            <a:ext cx="12191695" cy="10972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5349240"/>
            <a:ext cx="12191695" cy="10972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" y="6254496"/>
            <a:ext cx="1965960" cy="384048"/>
          </a:xfrm>
          <a:prstGeom prst="roundRect">
            <a:avLst/>
          </a:prstGeom>
          <a:solidFill>
            <a:srgbClr val="0D1D30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6309360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5D6FF"/>
                </a:solidFill>
                <a:latin typeface="Aptos"/>
              </a:rPr>
              <a:t>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" y="6300216"/>
            <a:ext cx="13533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A5B8CB"/>
                </a:solidFill>
                <a:latin typeface="Aptos"/>
              </a:rPr>
              <a:t>EMAIL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07791" y="6254496"/>
            <a:ext cx="1965960" cy="384048"/>
          </a:xfrm>
          <a:prstGeom prst="roundRect">
            <a:avLst/>
          </a:prstGeom>
          <a:solidFill>
            <a:srgbClr val="0D1D30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17520" y="6309360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5D6FF"/>
                </a:solidFill>
                <a:latin typeface="Aptos"/>
              </a:rPr>
              <a:t>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59" y="6300216"/>
            <a:ext cx="13533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A5B8CB"/>
                </a:solidFill>
                <a:latin typeface="Aptos"/>
              </a:rPr>
              <a:t>MEETING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75504" y="6254496"/>
            <a:ext cx="1965960" cy="384048"/>
          </a:xfrm>
          <a:prstGeom prst="roundRect">
            <a:avLst/>
          </a:prstGeom>
          <a:solidFill>
            <a:srgbClr val="0D1D30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85232" y="6309360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5D6FF"/>
                </a:solidFill>
                <a:latin typeface="Aptos"/>
              </a:rPr>
              <a:t>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05272" y="6300216"/>
            <a:ext cx="13533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A5B8CB"/>
                </a:solidFill>
                <a:latin typeface="Aptos"/>
              </a:rPr>
              <a:t>PLANNER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43215" y="6254496"/>
            <a:ext cx="1965960" cy="384048"/>
          </a:xfrm>
          <a:prstGeom prst="roundRect">
            <a:avLst/>
          </a:prstGeom>
          <a:solidFill>
            <a:srgbClr val="0D1D30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52943" y="6309360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5D6FF"/>
                </a:solidFill>
                <a:latin typeface="Aptos"/>
              </a:rPr>
              <a:t>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72983" y="6300216"/>
            <a:ext cx="13533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A5B8CB"/>
                </a:solidFill>
                <a:latin typeface="Aptos"/>
              </a:rPr>
              <a:t>RESEARCH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10928" y="6254496"/>
            <a:ext cx="1965960" cy="384048"/>
          </a:xfrm>
          <a:prstGeom prst="roundRect">
            <a:avLst/>
          </a:prstGeom>
          <a:solidFill>
            <a:srgbClr val="0D1D30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0655" y="6309360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5D6FF"/>
                </a:solidFill>
                <a:latin typeface="Aptos"/>
              </a:rPr>
              <a:t>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40696" y="6300216"/>
            <a:ext cx="13533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A5B8CB"/>
                </a:solidFill>
                <a:latin typeface="Aptos"/>
              </a:rPr>
              <a:t>CHAT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256032"/>
            <a:ext cx="594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5B8CB"/>
                </a:solidFill>
                <a:latin typeface="Aptos"/>
              </a:rPr>
              <a:t>10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256032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5D6FF"/>
                </a:solidFill>
                <a:latin typeface="Aptos"/>
              </a:rPr>
              <a:t>09 • RESPONSIBLE AI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76656"/>
            <a:ext cx="108813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F5F9FF"/>
                </a:solidFill>
                <a:latin typeface="Aptos"/>
              </a:rPr>
              <a:t>Responsible &amp; ethical AI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1243584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5B8CB"/>
                </a:solidFill>
                <a:latin typeface="Aptos"/>
              </a:rPr>
              <a:t>Safety and professional accountability are part of the workflow.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1828800"/>
            <a:ext cx="2514600" cy="2743200"/>
          </a:xfrm>
          <a:prstGeom prst="roundRect">
            <a:avLst/>
          </a:prstGeom>
          <a:solidFill>
            <a:srgbClr val="0D1D30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4671" y="1975104"/>
            <a:ext cx="411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66E3A8"/>
                </a:solidFill>
                <a:latin typeface="Aptos"/>
              </a:rPr>
              <a:t>✓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25880" y="1984248"/>
            <a:ext cx="166420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F5F9FF"/>
                </a:solidFill>
                <a:latin typeface="Aptos"/>
              </a:rPr>
              <a:t>VERIFY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1" y="2450592"/>
            <a:ext cx="2185416" cy="1993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5B8CB"/>
                </a:solidFill>
                <a:latin typeface="Aptos"/>
              </a:rPr>
              <a:t>Check important facts, names, dates and generated claims.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429000" y="1828800"/>
            <a:ext cx="2514600" cy="2743200"/>
          </a:xfrm>
          <a:prstGeom prst="roundRect">
            <a:avLst/>
          </a:prstGeom>
          <a:solidFill>
            <a:srgbClr val="0D1D30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593592" y="1975104"/>
            <a:ext cx="411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2C78B8"/>
                </a:solidFill>
                <a:latin typeface="Aptos"/>
              </a:rPr>
              <a:t>⌕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114800" y="1984248"/>
            <a:ext cx="166420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F5F9FF"/>
                </a:solidFill>
                <a:latin typeface="Aptos"/>
              </a:rPr>
              <a:t>PRIVACY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93592" y="2450592"/>
            <a:ext cx="2185416" cy="1993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5B8CB"/>
                </a:solidFill>
                <a:latin typeface="Aptos"/>
              </a:rPr>
              <a:t>Protect confidential or sensitive information and use approved tools.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17920" y="1828800"/>
            <a:ext cx="2514600" cy="2743200"/>
          </a:xfrm>
          <a:prstGeom prst="roundRect">
            <a:avLst/>
          </a:prstGeom>
          <a:solidFill>
            <a:srgbClr val="0D1D30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382512" y="1975104"/>
            <a:ext cx="411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FFD166"/>
                </a:solidFill>
                <a:latin typeface="Aptos"/>
              </a:rPr>
              <a:t>⚖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03720" y="1984248"/>
            <a:ext cx="166420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F5F9FF"/>
                </a:solidFill>
                <a:latin typeface="Aptos"/>
              </a:rPr>
              <a:t>BIAS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382512" y="2450592"/>
            <a:ext cx="2185416" cy="1993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5B8CB"/>
                </a:solidFill>
                <a:latin typeface="Aptos"/>
              </a:rPr>
              <a:t>Review wording and recommendations for unfair assumptions.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006839" y="1828800"/>
            <a:ext cx="2514600" cy="2743200"/>
          </a:xfrm>
          <a:prstGeom prst="roundRect">
            <a:avLst/>
          </a:prstGeom>
          <a:solidFill>
            <a:srgbClr val="0D1D30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71431" y="1975104"/>
            <a:ext cx="411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8B7CFF"/>
                </a:solidFill>
                <a:latin typeface="Aptos"/>
              </a:rPr>
              <a:t>◉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692639" y="1984248"/>
            <a:ext cx="1664207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F5F9FF"/>
                </a:solidFill>
                <a:latin typeface="Aptos"/>
              </a:rPr>
              <a:t>HUMAN CONTROL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71431" y="2450592"/>
            <a:ext cx="2185416" cy="19933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5B8CB"/>
                </a:solidFill>
                <a:latin typeface="Aptos"/>
              </a:rPr>
              <a:t>Keep people responsible for important decisions and final communication.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22960" y="4983480"/>
            <a:ext cx="10287000" cy="640080"/>
          </a:xfrm>
          <a:prstGeom prst="roundRect">
            <a:avLst/>
          </a:prstGeom>
          <a:solidFill>
            <a:srgbClr val="221F16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51560" y="5184648"/>
            <a:ext cx="98298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80" b="1">
                <a:solidFill>
                  <a:srgbClr val="F5F9FF"/>
                </a:solidFill>
                <a:latin typeface="Aptos"/>
              </a:rPr>
              <a:t>The prototype explicitly reminds users that AI can be wrong, incomplete, biased or outdated.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0"/>
            <a:ext cx="10972" cy="6858000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148840" y="0"/>
            <a:ext cx="10972" cy="6858000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86200" y="0"/>
            <a:ext cx="10972" cy="6858000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23560" y="0"/>
            <a:ext cx="10972" cy="6858000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60920" y="0"/>
            <a:ext cx="10972" cy="6858000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98280" y="0"/>
            <a:ext cx="10972" cy="6858000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835640" y="0"/>
            <a:ext cx="10972" cy="6858000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097280"/>
            <a:ext cx="12191695" cy="10972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2514600"/>
            <a:ext cx="12191695" cy="10972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3931920"/>
            <a:ext cx="12191695" cy="10972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5349240"/>
            <a:ext cx="12191695" cy="10972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" y="6254496"/>
            <a:ext cx="1965960" cy="384048"/>
          </a:xfrm>
          <a:prstGeom prst="roundRect">
            <a:avLst/>
          </a:prstGeom>
          <a:solidFill>
            <a:srgbClr val="0D1D30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6309360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5D6FF"/>
                </a:solidFill>
                <a:latin typeface="Aptos"/>
              </a:rPr>
              <a:t>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" y="6300216"/>
            <a:ext cx="13533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A5B8CB"/>
                </a:solidFill>
                <a:latin typeface="Aptos"/>
              </a:rPr>
              <a:t>EMAIL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07791" y="6254496"/>
            <a:ext cx="1965960" cy="384048"/>
          </a:xfrm>
          <a:prstGeom prst="roundRect">
            <a:avLst/>
          </a:prstGeom>
          <a:solidFill>
            <a:srgbClr val="0D1D30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17520" y="6309360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5D6FF"/>
                </a:solidFill>
                <a:latin typeface="Aptos"/>
              </a:rPr>
              <a:t>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59" y="6300216"/>
            <a:ext cx="13533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A5B8CB"/>
                </a:solidFill>
                <a:latin typeface="Aptos"/>
              </a:rPr>
              <a:t>MEETING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75504" y="6254496"/>
            <a:ext cx="1965960" cy="384048"/>
          </a:xfrm>
          <a:prstGeom prst="roundRect">
            <a:avLst/>
          </a:prstGeom>
          <a:solidFill>
            <a:srgbClr val="0D1D30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85232" y="6309360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5D6FF"/>
                </a:solidFill>
                <a:latin typeface="Aptos"/>
              </a:rPr>
              <a:t>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05272" y="6300216"/>
            <a:ext cx="13533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A5B8CB"/>
                </a:solidFill>
                <a:latin typeface="Aptos"/>
              </a:rPr>
              <a:t>PLANNER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43215" y="6254496"/>
            <a:ext cx="1965960" cy="384048"/>
          </a:xfrm>
          <a:prstGeom prst="roundRect">
            <a:avLst/>
          </a:prstGeom>
          <a:solidFill>
            <a:srgbClr val="0D1D30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52943" y="6309360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5D6FF"/>
                </a:solidFill>
                <a:latin typeface="Aptos"/>
              </a:rPr>
              <a:t>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72983" y="6300216"/>
            <a:ext cx="13533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A5B8CB"/>
                </a:solidFill>
                <a:latin typeface="Aptos"/>
              </a:rPr>
              <a:t>RESEARCH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10928" y="6254496"/>
            <a:ext cx="1965960" cy="384048"/>
          </a:xfrm>
          <a:prstGeom prst="roundRect">
            <a:avLst/>
          </a:prstGeom>
          <a:solidFill>
            <a:srgbClr val="0D1D30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0655" y="6309360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5D6FF"/>
                </a:solidFill>
                <a:latin typeface="Aptos"/>
              </a:rPr>
              <a:t>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40696" y="6300216"/>
            <a:ext cx="13533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A5B8CB"/>
                </a:solidFill>
                <a:latin typeface="Aptos"/>
              </a:rPr>
              <a:t>CHAT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256032"/>
            <a:ext cx="594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5B8CB"/>
                </a:solidFill>
                <a:latin typeface="Aptos"/>
              </a:rPr>
              <a:t>11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256032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5D6FF"/>
                </a:solidFill>
                <a:latin typeface="Aptos"/>
              </a:rPr>
              <a:t>10 • CHALLENGES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76656"/>
            <a:ext cx="108813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F5F9FF"/>
                </a:solidFill>
                <a:latin typeface="Aptos"/>
              </a:rPr>
              <a:t>Challenges → practical responses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1243584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5B8CB"/>
                </a:solidFill>
                <a:latin typeface="Aptos"/>
              </a:rPr>
              <a:t>The project anticipates common risks of workplace AI adoption.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1783080"/>
            <a:ext cx="3840480" cy="658368"/>
          </a:xfrm>
          <a:prstGeom prst="roundRect">
            <a:avLst/>
          </a:prstGeom>
          <a:solidFill>
            <a:srgbClr val="232634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0120" y="1993392"/>
            <a:ext cx="3383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FFD166"/>
                </a:solidFill>
                <a:latin typeface="Aptos"/>
              </a:rPr>
              <a:t>CHALLENGE  •  Vague prompts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983480" y="1783080"/>
            <a:ext cx="5989320" cy="658368"/>
          </a:xfrm>
          <a:prstGeom prst="roundRect">
            <a:avLst/>
          </a:prstGeom>
          <a:solidFill>
            <a:srgbClr val="10263A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230368" y="1993392"/>
            <a:ext cx="5486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1">
                <a:solidFill>
                  <a:srgbClr val="F5F9FF"/>
                </a:solidFill>
                <a:latin typeface="Aptos"/>
              </a:rPr>
              <a:t>SOLUTION  →  Structured prompt templates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31520" y="2743200"/>
            <a:ext cx="3840480" cy="658368"/>
          </a:xfrm>
          <a:prstGeom prst="roundRect">
            <a:avLst/>
          </a:prstGeom>
          <a:solidFill>
            <a:srgbClr val="232634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60120" y="2953512"/>
            <a:ext cx="3383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FFD166"/>
                </a:solidFill>
                <a:latin typeface="Aptos"/>
              </a:rPr>
              <a:t>CHALLENGE  •  Inaccurate output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983480" y="2743200"/>
            <a:ext cx="5989320" cy="658368"/>
          </a:xfrm>
          <a:prstGeom prst="roundRect">
            <a:avLst/>
          </a:prstGeom>
          <a:solidFill>
            <a:srgbClr val="10263A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230368" y="2953512"/>
            <a:ext cx="5486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1">
                <a:solidFill>
                  <a:srgbClr val="F5F9FF"/>
                </a:solidFill>
                <a:latin typeface="Aptos"/>
              </a:rPr>
              <a:t>SOLUTION  →  Human verification + source checking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1520" y="3703320"/>
            <a:ext cx="3840480" cy="658368"/>
          </a:xfrm>
          <a:prstGeom prst="roundRect">
            <a:avLst/>
          </a:prstGeom>
          <a:solidFill>
            <a:srgbClr val="232634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60120" y="3913632"/>
            <a:ext cx="3383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FFD166"/>
                </a:solidFill>
                <a:latin typeface="Aptos"/>
              </a:rPr>
              <a:t>CHALLENGE  •  Privacy risk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983480" y="3703320"/>
            <a:ext cx="5989320" cy="658368"/>
          </a:xfrm>
          <a:prstGeom prst="roundRect">
            <a:avLst/>
          </a:prstGeom>
          <a:solidFill>
            <a:srgbClr val="10263A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5230368" y="3913632"/>
            <a:ext cx="5486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1">
                <a:solidFill>
                  <a:srgbClr val="F5F9FF"/>
                </a:solidFill>
                <a:latin typeface="Aptos"/>
              </a:rPr>
              <a:t>SOLUTION  →  Approved tools + data minimisation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31520" y="4663440"/>
            <a:ext cx="3840480" cy="658368"/>
          </a:xfrm>
          <a:prstGeom prst="roundRect">
            <a:avLst/>
          </a:prstGeom>
          <a:solidFill>
            <a:srgbClr val="232634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60120" y="4873752"/>
            <a:ext cx="33832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50" b="1">
                <a:solidFill>
                  <a:srgbClr val="FFD166"/>
                </a:solidFill>
                <a:latin typeface="Aptos"/>
              </a:rPr>
              <a:t>CHALLENGE  •  Over-reliance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983480" y="4663440"/>
            <a:ext cx="5989320" cy="658368"/>
          </a:xfrm>
          <a:prstGeom prst="roundRect">
            <a:avLst/>
          </a:prstGeom>
          <a:solidFill>
            <a:srgbClr val="10263A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230368" y="4873752"/>
            <a:ext cx="5486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80" b="1">
                <a:solidFill>
                  <a:srgbClr val="F5F9FF"/>
                </a:solidFill>
                <a:latin typeface="Aptos"/>
              </a:rPr>
              <a:t>SOLUTION  →  AI supports judgement; it does not replace it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0"/>
            <a:ext cx="10972" cy="6858000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148840" y="0"/>
            <a:ext cx="10972" cy="6858000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86200" y="0"/>
            <a:ext cx="10972" cy="6858000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23560" y="0"/>
            <a:ext cx="10972" cy="6858000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60920" y="0"/>
            <a:ext cx="10972" cy="6858000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98280" y="0"/>
            <a:ext cx="10972" cy="6858000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835640" y="0"/>
            <a:ext cx="10972" cy="6858000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097280"/>
            <a:ext cx="12191695" cy="10972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2514600"/>
            <a:ext cx="12191695" cy="10972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3931920"/>
            <a:ext cx="12191695" cy="10972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5349240"/>
            <a:ext cx="12191695" cy="10972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" y="6254496"/>
            <a:ext cx="1965960" cy="384048"/>
          </a:xfrm>
          <a:prstGeom prst="roundRect">
            <a:avLst/>
          </a:prstGeom>
          <a:solidFill>
            <a:srgbClr val="0D1D30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6309360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5D6FF"/>
                </a:solidFill>
                <a:latin typeface="Aptos"/>
              </a:rPr>
              <a:t>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" y="6300216"/>
            <a:ext cx="13533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A5B8CB"/>
                </a:solidFill>
                <a:latin typeface="Aptos"/>
              </a:rPr>
              <a:t>EMAIL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07791" y="6254496"/>
            <a:ext cx="1965960" cy="384048"/>
          </a:xfrm>
          <a:prstGeom prst="roundRect">
            <a:avLst/>
          </a:prstGeom>
          <a:solidFill>
            <a:srgbClr val="0D1D30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17520" y="6309360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5D6FF"/>
                </a:solidFill>
                <a:latin typeface="Aptos"/>
              </a:rPr>
              <a:t>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59" y="6300216"/>
            <a:ext cx="13533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A5B8CB"/>
                </a:solidFill>
                <a:latin typeface="Aptos"/>
              </a:rPr>
              <a:t>MEETING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75504" y="6254496"/>
            <a:ext cx="1965960" cy="384048"/>
          </a:xfrm>
          <a:prstGeom prst="roundRect">
            <a:avLst/>
          </a:prstGeom>
          <a:solidFill>
            <a:srgbClr val="0D1D30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85232" y="6309360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5D6FF"/>
                </a:solidFill>
                <a:latin typeface="Aptos"/>
              </a:rPr>
              <a:t>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05272" y="6300216"/>
            <a:ext cx="13533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A5B8CB"/>
                </a:solidFill>
                <a:latin typeface="Aptos"/>
              </a:rPr>
              <a:t>PLANNER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43215" y="6254496"/>
            <a:ext cx="1965960" cy="384048"/>
          </a:xfrm>
          <a:prstGeom prst="roundRect">
            <a:avLst/>
          </a:prstGeom>
          <a:solidFill>
            <a:srgbClr val="0D1D30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52943" y="6309360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5D6FF"/>
                </a:solidFill>
                <a:latin typeface="Aptos"/>
              </a:rPr>
              <a:t>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72983" y="6300216"/>
            <a:ext cx="13533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A5B8CB"/>
                </a:solidFill>
                <a:latin typeface="Aptos"/>
              </a:rPr>
              <a:t>RESEARCH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10928" y="6254496"/>
            <a:ext cx="1965960" cy="384048"/>
          </a:xfrm>
          <a:prstGeom prst="roundRect">
            <a:avLst/>
          </a:prstGeom>
          <a:solidFill>
            <a:srgbClr val="0D1D30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0655" y="6309360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5D6FF"/>
                </a:solidFill>
                <a:latin typeface="Aptos"/>
              </a:rPr>
              <a:t>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40696" y="6300216"/>
            <a:ext cx="13533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A5B8CB"/>
                </a:solidFill>
                <a:latin typeface="Aptos"/>
              </a:rPr>
              <a:t>CHAT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256032"/>
            <a:ext cx="594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5B8CB"/>
                </a:solidFill>
                <a:latin typeface="Aptos"/>
              </a:rPr>
              <a:t>12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256032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5D6FF"/>
                </a:solidFill>
                <a:latin typeface="Aptos"/>
              </a:rPr>
              <a:t>11 • INDUSTRY RELEVANCE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76656"/>
            <a:ext cx="108813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F5F9FF"/>
                </a:solidFill>
                <a:latin typeface="Aptos"/>
              </a:rPr>
              <a:t>Why this project matters professionally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1243584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5B8CB"/>
                </a:solidFill>
                <a:latin typeface="Aptos"/>
              </a:rPr>
              <a:t>The project demonstrates skills relevant to AI-enabled workplace roles.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1828800"/>
            <a:ext cx="5212080" cy="1554480"/>
          </a:xfrm>
          <a:prstGeom prst="roundRect">
            <a:avLst/>
          </a:prstGeom>
          <a:solidFill>
            <a:srgbClr val="0D1D30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4671" y="1975104"/>
            <a:ext cx="411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55D6FF"/>
                </a:solidFill>
                <a:latin typeface="Aptos"/>
              </a:rPr>
              <a:t>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25880" y="1984248"/>
            <a:ext cx="436168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F5F9FF"/>
                </a:solidFill>
                <a:latin typeface="Aptos"/>
              </a:rPr>
              <a:t>AI PROMPT ENGINEER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1" y="2450592"/>
            <a:ext cx="4882896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5B8CB"/>
                </a:solidFill>
                <a:latin typeface="Aptos"/>
              </a:rPr>
              <a:t>Designs, tests and refines prompts.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1828800"/>
            <a:ext cx="5212080" cy="1554480"/>
          </a:xfrm>
          <a:prstGeom prst="roundRect">
            <a:avLst/>
          </a:prstGeom>
          <a:solidFill>
            <a:srgbClr val="0D1D30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82512" y="1975104"/>
            <a:ext cx="411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8B7CFF"/>
                </a:solidFill>
                <a:latin typeface="Aptos"/>
              </a:rPr>
              <a:t>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03720" y="1984248"/>
            <a:ext cx="436168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F5F9FF"/>
                </a:solidFill>
                <a:latin typeface="Aptos"/>
              </a:rPr>
              <a:t>AI PRODUCTIVITY SPECIALIST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82512" y="2450592"/>
            <a:ext cx="4882896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5B8CB"/>
                </a:solidFill>
                <a:latin typeface="Aptos"/>
              </a:rPr>
              <a:t>Maps repetitive tasks to AI workflows.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40080" y="3703320"/>
            <a:ext cx="5212080" cy="1554480"/>
          </a:xfrm>
          <a:prstGeom prst="roundRect">
            <a:avLst/>
          </a:prstGeom>
          <a:solidFill>
            <a:srgbClr val="0D1D30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04671" y="3849624"/>
            <a:ext cx="411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66E3A8"/>
                </a:solidFill>
                <a:latin typeface="Aptos"/>
              </a:rPr>
              <a:t>✦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325880" y="3858768"/>
            <a:ext cx="436168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F5F9FF"/>
                </a:solidFill>
                <a:latin typeface="Aptos"/>
              </a:rPr>
              <a:t>BUSINESS ANALYST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4671" y="4325112"/>
            <a:ext cx="4882896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5B8CB"/>
                </a:solidFill>
                <a:latin typeface="Aptos"/>
              </a:rPr>
              <a:t>Identifies process problems and automation opportunities.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17920" y="3703320"/>
            <a:ext cx="5212080" cy="1554480"/>
          </a:xfrm>
          <a:prstGeom prst="roundRect">
            <a:avLst/>
          </a:prstGeom>
          <a:solidFill>
            <a:srgbClr val="0D1D30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382512" y="3849624"/>
            <a:ext cx="411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FFD166"/>
                </a:solidFill>
                <a:latin typeface="Aptos"/>
              </a:rPr>
              <a:t>✦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903720" y="3858768"/>
            <a:ext cx="436168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F5F9FF"/>
                </a:solidFill>
                <a:latin typeface="Aptos"/>
              </a:rPr>
              <a:t>DIGITAL TRANSFORMATION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82512" y="4325112"/>
            <a:ext cx="4882896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5B8CB"/>
                </a:solidFill>
                <a:latin typeface="Aptos"/>
              </a:rPr>
              <a:t>Supports responsible adoption of AI tools.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0"/>
            <a:ext cx="10972" cy="6858000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148840" y="0"/>
            <a:ext cx="10972" cy="6858000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86200" y="0"/>
            <a:ext cx="10972" cy="6858000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23560" y="0"/>
            <a:ext cx="10972" cy="6858000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60920" y="0"/>
            <a:ext cx="10972" cy="6858000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98280" y="0"/>
            <a:ext cx="10972" cy="6858000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835640" y="0"/>
            <a:ext cx="10972" cy="6858000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097280"/>
            <a:ext cx="12191695" cy="10972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2514600"/>
            <a:ext cx="12191695" cy="10972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3931920"/>
            <a:ext cx="12191695" cy="10972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5349240"/>
            <a:ext cx="12191695" cy="10972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" y="6254496"/>
            <a:ext cx="1965960" cy="384048"/>
          </a:xfrm>
          <a:prstGeom prst="roundRect">
            <a:avLst/>
          </a:prstGeom>
          <a:solidFill>
            <a:srgbClr val="0D1D30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6309360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5D6FF"/>
                </a:solidFill>
                <a:latin typeface="Aptos"/>
              </a:rPr>
              <a:t>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" y="6300216"/>
            <a:ext cx="13533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A5B8CB"/>
                </a:solidFill>
                <a:latin typeface="Aptos"/>
              </a:rPr>
              <a:t>EMAIL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07791" y="6254496"/>
            <a:ext cx="1965960" cy="384048"/>
          </a:xfrm>
          <a:prstGeom prst="roundRect">
            <a:avLst/>
          </a:prstGeom>
          <a:solidFill>
            <a:srgbClr val="0D1D30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17520" y="6309360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5D6FF"/>
                </a:solidFill>
                <a:latin typeface="Aptos"/>
              </a:rPr>
              <a:t>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59" y="6300216"/>
            <a:ext cx="13533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A5B8CB"/>
                </a:solidFill>
                <a:latin typeface="Aptos"/>
              </a:rPr>
              <a:t>MEETING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75504" y="6254496"/>
            <a:ext cx="1965960" cy="384048"/>
          </a:xfrm>
          <a:prstGeom prst="roundRect">
            <a:avLst/>
          </a:prstGeom>
          <a:solidFill>
            <a:srgbClr val="0D1D30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85232" y="6309360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5D6FF"/>
                </a:solidFill>
                <a:latin typeface="Aptos"/>
              </a:rPr>
              <a:t>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05272" y="6300216"/>
            <a:ext cx="13533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A5B8CB"/>
                </a:solidFill>
                <a:latin typeface="Aptos"/>
              </a:rPr>
              <a:t>PLANNER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43215" y="6254496"/>
            <a:ext cx="1965960" cy="384048"/>
          </a:xfrm>
          <a:prstGeom prst="roundRect">
            <a:avLst/>
          </a:prstGeom>
          <a:solidFill>
            <a:srgbClr val="0D1D30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52943" y="6309360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5D6FF"/>
                </a:solidFill>
                <a:latin typeface="Aptos"/>
              </a:rPr>
              <a:t>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72983" y="6300216"/>
            <a:ext cx="13533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A5B8CB"/>
                </a:solidFill>
                <a:latin typeface="Aptos"/>
              </a:rPr>
              <a:t>RESEARCH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10928" y="6254496"/>
            <a:ext cx="1965960" cy="384048"/>
          </a:xfrm>
          <a:prstGeom prst="roundRect">
            <a:avLst/>
          </a:prstGeom>
          <a:solidFill>
            <a:srgbClr val="0D1D30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0655" y="6309360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5D6FF"/>
                </a:solidFill>
                <a:latin typeface="Aptos"/>
              </a:rPr>
              <a:t>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40696" y="6300216"/>
            <a:ext cx="13533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A5B8CB"/>
                </a:solidFill>
                <a:latin typeface="Aptos"/>
              </a:rPr>
              <a:t>CHAT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256032"/>
            <a:ext cx="594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5B8CB"/>
                </a:solidFill>
                <a:latin typeface="Aptos"/>
              </a:rPr>
              <a:t>13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256032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5D6FF"/>
                </a:solidFill>
                <a:latin typeface="Aptos"/>
              </a:rPr>
              <a:t>12 • LIVE DEMO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76656"/>
            <a:ext cx="108813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F5F9FF"/>
                </a:solidFill>
                <a:latin typeface="Aptos"/>
              </a:rPr>
              <a:t>Live demonstration flow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1243584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5B8CB"/>
                </a:solidFill>
                <a:latin typeface="Aptos"/>
              </a:rPr>
              <a:t>A short walkthrough can prove functionality while explaining the reasoning behind the design.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1783080"/>
            <a:ext cx="3429000" cy="1417320"/>
          </a:xfrm>
          <a:prstGeom prst="roundRect">
            <a:avLst/>
          </a:prstGeom>
          <a:solidFill>
            <a:srgbClr val="0D1D30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4671" y="1929384"/>
            <a:ext cx="411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55D6FF"/>
                </a:solidFill>
                <a:latin typeface="Aptos"/>
              </a:rPr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25880" y="1938528"/>
            <a:ext cx="257860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F5F9FF"/>
                </a:solidFill>
                <a:latin typeface="Aptos"/>
              </a:rPr>
              <a:t>EMAIL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1" y="2404872"/>
            <a:ext cx="3099816" cy="667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5B8CB"/>
                </a:solidFill>
                <a:latin typeface="Aptos"/>
              </a:rPr>
              <a:t>Generate manager leave request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89120" y="1783080"/>
            <a:ext cx="3429000" cy="1417320"/>
          </a:xfrm>
          <a:prstGeom prst="roundRect">
            <a:avLst/>
          </a:prstGeom>
          <a:solidFill>
            <a:srgbClr val="0D1D30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53712" y="1929384"/>
            <a:ext cx="411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55D6FF"/>
                </a:solidFill>
                <a:latin typeface="Aptos"/>
              </a:rPr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74920" y="1938528"/>
            <a:ext cx="257860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F5F9FF"/>
                </a:solidFill>
                <a:latin typeface="Aptos"/>
              </a:rPr>
              <a:t>MEETING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53712" y="2404872"/>
            <a:ext cx="3099816" cy="667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5B8CB"/>
                </a:solidFill>
                <a:latin typeface="Aptos"/>
              </a:rPr>
              <a:t>Extract actions + deadlines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38159" y="1783080"/>
            <a:ext cx="3429000" cy="1417320"/>
          </a:xfrm>
          <a:prstGeom prst="roundRect">
            <a:avLst/>
          </a:prstGeom>
          <a:solidFill>
            <a:srgbClr val="0D1D30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02751" y="1929384"/>
            <a:ext cx="411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55D6FF"/>
                </a:solidFill>
                <a:latin typeface="Aptos"/>
              </a:rPr>
              <a:t>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23959" y="1938528"/>
            <a:ext cx="257860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F5F9FF"/>
                </a:solidFill>
                <a:latin typeface="Aptos"/>
              </a:rPr>
              <a:t>PLANNER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02751" y="2404872"/>
            <a:ext cx="3099816" cy="667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5B8CB"/>
                </a:solidFill>
                <a:latin typeface="Aptos"/>
              </a:rPr>
              <a:t>Create time-blocked day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0080" y="3474720"/>
            <a:ext cx="3429000" cy="1417320"/>
          </a:xfrm>
          <a:prstGeom prst="roundRect">
            <a:avLst/>
          </a:prstGeom>
          <a:solidFill>
            <a:srgbClr val="0D1D30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4671" y="3621024"/>
            <a:ext cx="411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55D6FF"/>
                </a:solidFill>
                <a:latin typeface="Aptos"/>
              </a:rPr>
              <a:t>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25880" y="3630168"/>
            <a:ext cx="257860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F5F9FF"/>
                </a:solidFill>
                <a:latin typeface="Aptos"/>
              </a:rPr>
              <a:t>RESEARCH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4671" y="4096511"/>
            <a:ext cx="3099816" cy="667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5B8CB"/>
                </a:solidFill>
                <a:latin typeface="Aptos"/>
              </a:rPr>
              <a:t>Summarise and flag limitations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389120" y="3474720"/>
            <a:ext cx="3429000" cy="1417320"/>
          </a:xfrm>
          <a:prstGeom prst="roundRect">
            <a:avLst/>
          </a:prstGeom>
          <a:solidFill>
            <a:srgbClr val="0D1D30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53712" y="3621024"/>
            <a:ext cx="411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8B7CFF"/>
                </a:solidFill>
                <a:latin typeface="Aptos"/>
              </a:rPr>
              <a:t>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74920" y="3630168"/>
            <a:ext cx="257860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F5F9FF"/>
                </a:solidFill>
                <a:latin typeface="Aptos"/>
              </a:rPr>
              <a:t>PROMPT LAB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53712" y="4096511"/>
            <a:ext cx="3099816" cy="667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5B8CB"/>
                </a:solidFill>
                <a:latin typeface="Aptos"/>
              </a:rPr>
              <a:t>Build a refined prompt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138159" y="3474720"/>
            <a:ext cx="3429000" cy="1417320"/>
          </a:xfrm>
          <a:prstGeom prst="roundRect">
            <a:avLst/>
          </a:prstGeom>
          <a:solidFill>
            <a:srgbClr val="0D1D30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302751" y="3621024"/>
            <a:ext cx="411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8B7CFF"/>
                </a:solidFill>
                <a:latin typeface="Aptos"/>
              </a:rPr>
              <a:t>6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823959" y="3630168"/>
            <a:ext cx="257860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F5F9FF"/>
                </a:solidFill>
                <a:latin typeface="Aptos"/>
              </a:rPr>
              <a:t>IMPACT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02751" y="4096511"/>
            <a:ext cx="3099816" cy="6675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5B8CB"/>
                </a:solidFill>
                <a:latin typeface="Aptos"/>
              </a:rPr>
              <a:t>Calculate illustrative time difference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77240" y="5532120"/>
            <a:ext cx="1042416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F5F9FF"/>
                </a:solidFill>
                <a:latin typeface="Aptos"/>
              </a:rPr>
              <a:t>Close the demo by showing the Responsible AI checklist and explaining that human validation remains required.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0"/>
            <a:ext cx="10972" cy="6858000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148840" y="0"/>
            <a:ext cx="10972" cy="6858000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86200" y="0"/>
            <a:ext cx="10972" cy="6858000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23560" y="0"/>
            <a:ext cx="10972" cy="6858000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60920" y="0"/>
            <a:ext cx="10972" cy="6858000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98280" y="0"/>
            <a:ext cx="10972" cy="6858000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835640" y="0"/>
            <a:ext cx="10972" cy="6858000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097280"/>
            <a:ext cx="12191695" cy="10972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2514600"/>
            <a:ext cx="12191695" cy="10972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3931920"/>
            <a:ext cx="12191695" cy="10972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5349240"/>
            <a:ext cx="12191695" cy="10972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" y="6254496"/>
            <a:ext cx="1965960" cy="384048"/>
          </a:xfrm>
          <a:prstGeom prst="roundRect">
            <a:avLst/>
          </a:prstGeom>
          <a:solidFill>
            <a:srgbClr val="0D1D30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6309360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5D6FF"/>
                </a:solidFill>
                <a:latin typeface="Aptos"/>
              </a:rPr>
              <a:t>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" y="6300216"/>
            <a:ext cx="13533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A5B8CB"/>
                </a:solidFill>
                <a:latin typeface="Aptos"/>
              </a:rPr>
              <a:t>EMAIL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07791" y="6254496"/>
            <a:ext cx="1965960" cy="384048"/>
          </a:xfrm>
          <a:prstGeom prst="roundRect">
            <a:avLst/>
          </a:prstGeom>
          <a:solidFill>
            <a:srgbClr val="0D1D30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17520" y="6309360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5D6FF"/>
                </a:solidFill>
                <a:latin typeface="Aptos"/>
              </a:rPr>
              <a:t>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59" y="6300216"/>
            <a:ext cx="13533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A5B8CB"/>
                </a:solidFill>
                <a:latin typeface="Aptos"/>
              </a:rPr>
              <a:t>MEETING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75504" y="6254496"/>
            <a:ext cx="1965960" cy="384048"/>
          </a:xfrm>
          <a:prstGeom prst="roundRect">
            <a:avLst/>
          </a:prstGeom>
          <a:solidFill>
            <a:srgbClr val="0D1D30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85232" y="6309360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5D6FF"/>
                </a:solidFill>
                <a:latin typeface="Aptos"/>
              </a:rPr>
              <a:t>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05272" y="6300216"/>
            <a:ext cx="13533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A5B8CB"/>
                </a:solidFill>
                <a:latin typeface="Aptos"/>
              </a:rPr>
              <a:t>PLANNER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43215" y="6254496"/>
            <a:ext cx="1965960" cy="384048"/>
          </a:xfrm>
          <a:prstGeom prst="roundRect">
            <a:avLst/>
          </a:prstGeom>
          <a:solidFill>
            <a:srgbClr val="0D1D30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52943" y="6309360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5D6FF"/>
                </a:solidFill>
                <a:latin typeface="Aptos"/>
              </a:rPr>
              <a:t>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72983" y="6300216"/>
            <a:ext cx="13533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A5B8CB"/>
                </a:solidFill>
                <a:latin typeface="Aptos"/>
              </a:rPr>
              <a:t>RESEARCH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10928" y="6254496"/>
            <a:ext cx="1965960" cy="384048"/>
          </a:xfrm>
          <a:prstGeom prst="roundRect">
            <a:avLst/>
          </a:prstGeom>
          <a:solidFill>
            <a:srgbClr val="0D1D30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0655" y="6309360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5D6FF"/>
                </a:solidFill>
                <a:latin typeface="Aptos"/>
              </a:rPr>
              <a:t>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40696" y="6300216"/>
            <a:ext cx="13533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A5B8CB"/>
                </a:solidFill>
                <a:latin typeface="Aptos"/>
              </a:rPr>
              <a:t>CHAT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256032"/>
            <a:ext cx="594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5B8CB"/>
                </a:solidFill>
                <a:latin typeface="Aptos"/>
              </a:rPr>
              <a:t>14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256032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5D6FF"/>
                </a:solidFill>
                <a:latin typeface="Aptos"/>
              </a:rPr>
              <a:t>13 • DELIVERABLES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76656"/>
            <a:ext cx="108813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F5F9FF"/>
                </a:solidFill>
                <a:latin typeface="Aptos"/>
              </a:rPr>
              <a:t>Final project package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1243584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5B8CB"/>
                </a:solidFill>
                <a:latin typeface="Aptos"/>
              </a:rPr>
              <a:t>All project artefacts are aligned around the same use case, visual identity and responsible-AI message.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1783080"/>
            <a:ext cx="3429000" cy="1554480"/>
          </a:xfrm>
          <a:prstGeom prst="roundRect">
            <a:avLst/>
          </a:prstGeom>
          <a:solidFill>
            <a:srgbClr val="0D1D30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4671" y="1929384"/>
            <a:ext cx="411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55D6FF"/>
                </a:solidFill>
                <a:latin typeface="Aptos"/>
              </a:rPr>
              <a:t>🌐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25880" y="1938528"/>
            <a:ext cx="257860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F5F9FF"/>
                </a:solidFill>
                <a:latin typeface="Aptos"/>
              </a:rPr>
              <a:t>Portfolio Website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1" y="2404872"/>
            <a:ext cx="3099816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5B8CB"/>
                </a:solidFill>
                <a:latin typeface="Aptos"/>
              </a:rPr>
              <a:t>Professional personal site + project showcase.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89120" y="1783080"/>
            <a:ext cx="3429000" cy="1554480"/>
          </a:xfrm>
          <a:prstGeom prst="roundRect">
            <a:avLst/>
          </a:prstGeom>
          <a:solidFill>
            <a:srgbClr val="0D1D30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53712" y="1929384"/>
            <a:ext cx="411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8B7CFF"/>
                </a:solidFill>
                <a:latin typeface="Aptos"/>
              </a:rPr>
              <a:t>💻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74920" y="1938528"/>
            <a:ext cx="257860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F5F9FF"/>
                </a:solidFill>
                <a:latin typeface="Aptos"/>
              </a:rPr>
              <a:t>Source Repository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53712" y="2404872"/>
            <a:ext cx="3099816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5B8CB"/>
                </a:solidFill>
                <a:latin typeface="Aptos"/>
              </a:rPr>
              <a:t>GitHub-ready AI-Productivity-Assistant project structure.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38159" y="1783080"/>
            <a:ext cx="3429000" cy="1554480"/>
          </a:xfrm>
          <a:prstGeom prst="roundRect">
            <a:avLst/>
          </a:prstGeom>
          <a:solidFill>
            <a:srgbClr val="0D1D30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02751" y="1929384"/>
            <a:ext cx="411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66E3A8"/>
                </a:solidFill>
                <a:latin typeface="Aptos"/>
              </a:rPr>
              <a:t>⚡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23959" y="1938528"/>
            <a:ext cx="257860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F5F9FF"/>
                </a:solidFill>
                <a:latin typeface="Aptos"/>
              </a:rPr>
              <a:t>WorkSmart Prototype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02751" y="2404872"/>
            <a:ext cx="3099816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5B8CB"/>
                </a:solidFill>
                <a:latin typeface="Aptos"/>
              </a:rPr>
              <a:t>Interactive workplace assistant with seven workflows.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0080" y="3611880"/>
            <a:ext cx="3429000" cy="1554480"/>
          </a:xfrm>
          <a:prstGeom prst="roundRect">
            <a:avLst/>
          </a:prstGeom>
          <a:solidFill>
            <a:srgbClr val="0D1D30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4671" y="3758184"/>
            <a:ext cx="411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FFD166"/>
                </a:solidFill>
                <a:latin typeface="Aptos"/>
              </a:rPr>
              <a:t>📄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25880" y="3767328"/>
            <a:ext cx="257860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F5F9FF"/>
                </a:solidFill>
                <a:latin typeface="Aptos"/>
              </a:rPr>
              <a:t>Documentation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4671" y="4233672"/>
            <a:ext cx="3099816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5B8CB"/>
                </a:solidFill>
                <a:latin typeface="Aptos"/>
              </a:rPr>
              <a:t>Complete project report with scope, prompts, ethics and impact.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389120" y="3611880"/>
            <a:ext cx="3429000" cy="1554480"/>
          </a:xfrm>
          <a:prstGeom prst="roundRect">
            <a:avLst/>
          </a:prstGeom>
          <a:solidFill>
            <a:srgbClr val="0D1D30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53712" y="3758184"/>
            <a:ext cx="411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2C78B8"/>
                </a:solidFill>
                <a:latin typeface="Aptos"/>
              </a:rPr>
              <a:t>📊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74920" y="3767328"/>
            <a:ext cx="257860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F5F9FF"/>
                </a:solidFill>
                <a:latin typeface="Aptos"/>
              </a:rPr>
              <a:t>PowerPoint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53712" y="4233672"/>
            <a:ext cx="3099816" cy="8046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5B8CB"/>
                </a:solidFill>
                <a:latin typeface="Aptos"/>
              </a:rPr>
              <a:t>Visual explanation and live-demo presentation.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0"/>
            <a:ext cx="10972" cy="6858000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148840" y="0"/>
            <a:ext cx="10972" cy="6858000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86200" y="0"/>
            <a:ext cx="10972" cy="6858000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23560" y="0"/>
            <a:ext cx="10972" cy="6858000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60920" y="0"/>
            <a:ext cx="10972" cy="6858000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98280" y="0"/>
            <a:ext cx="10972" cy="6858000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835640" y="0"/>
            <a:ext cx="10972" cy="6858000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097280"/>
            <a:ext cx="12191695" cy="10972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2514600"/>
            <a:ext cx="12191695" cy="10972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3931920"/>
            <a:ext cx="12191695" cy="10972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5349240"/>
            <a:ext cx="12191695" cy="10972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" y="6254496"/>
            <a:ext cx="1965960" cy="384048"/>
          </a:xfrm>
          <a:prstGeom prst="roundRect">
            <a:avLst/>
          </a:prstGeom>
          <a:solidFill>
            <a:srgbClr val="0D1D30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6309360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5D6FF"/>
                </a:solidFill>
                <a:latin typeface="Aptos"/>
              </a:rPr>
              <a:t>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" y="6300216"/>
            <a:ext cx="13533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A5B8CB"/>
                </a:solidFill>
                <a:latin typeface="Aptos"/>
              </a:rPr>
              <a:t>EMAIL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07791" y="6254496"/>
            <a:ext cx="1965960" cy="384048"/>
          </a:xfrm>
          <a:prstGeom prst="roundRect">
            <a:avLst/>
          </a:prstGeom>
          <a:solidFill>
            <a:srgbClr val="0D1D30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17520" y="6309360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5D6FF"/>
                </a:solidFill>
                <a:latin typeface="Aptos"/>
              </a:rPr>
              <a:t>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59" y="6300216"/>
            <a:ext cx="13533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A5B8CB"/>
                </a:solidFill>
                <a:latin typeface="Aptos"/>
              </a:rPr>
              <a:t>MEETING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75504" y="6254496"/>
            <a:ext cx="1965960" cy="384048"/>
          </a:xfrm>
          <a:prstGeom prst="roundRect">
            <a:avLst/>
          </a:prstGeom>
          <a:solidFill>
            <a:srgbClr val="0D1D30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85232" y="6309360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5D6FF"/>
                </a:solidFill>
                <a:latin typeface="Aptos"/>
              </a:rPr>
              <a:t>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05272" y="6300216"/>
            <a:ext cx="13533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A5B8CB"/>
                </a:solidFill>
                <a:latin typeface="Aptos"/>
              </a:rPr>
              <a:t>PLANNER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43215" y="6254496"/>
            <a:ext cx="1965960" cy="384048"/>
          </a:xfrm>
          <a:prstGeom prst="roundRect">
            <a:avLst/>
          </a:prstGeom>
          <a:solidFill>
            <a:srgbClr val="0D1D30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52943" y="6309360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5D6FF"/>
                </a:solidFill>
                <a:latin typeface="Aptos"/>
              </a:rPr>
              <a:t>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72983" y="6300216"/>
            <a:ext cx="13533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A5B8CB"/>
                </a:solidFill>
                <a:latin typeface="Aptos"/>
              </a:rPr>
              <a:t>RESEARCH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10928" y="6254496"/>
            <a:ext cx="1965960" cy="384048"/>
          </a:xfrm>
          <a:prstGeom prst="roundRect">
            <a:avLst/>
          </a:prstGeom>
          <a:solidFill>
            <a:srgbClr val="0D1D30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0655" y="6309360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5D6FF"/>
                </a:solidFill>
                <a:latin typeface="Aptos"/>
              </a:rPr>
              <a:t>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40696" y="6300216"/>
            <a:ext cx="13533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A5B8CB"/>
                </a:solidFill>
                <a:latin typeface="Aptos"/>
              </a:rPr>
              <a:t>CHAT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256032"/>
            <a:ext cx="594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5B8CB"/>
                </a:solidFill>
                <a:latin typeface="Aptos"/>
              </a:rPr>
              <a:t>15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256032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5D6FF"/>
                </a:solidFill>
                <a:latin typeface="Aptos"/>
              </a:rPr>
              <a:t>14 • NEXT STEPS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676656"/>
            <a:ext cx="10881360" cy="53035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900" b="1">
                <a:solidFill>
                  <a:srgbClr val="F5F9FF"/>
                </a:solidFill>
                <a:latin typeface="Aptos"/>
              </a:rPr>
              <a:t>From prototype to production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1243584"/>
            <a:ext cx="1078992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>
                <a:solidFill>
                  <a:srgbClr val="A5B8CB"/>
                </a:solidFill>
                <a:latin typeface="Aptos"/>
              </a:rPr>
              <a:t>The current prototype demonstrates the workflow; a production version would add controlled integrations.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1783080"/>
            <a:ext cx="3429000" cy="1371600"/>
          </a:xfrm>
          <a:prstGeom prst="roundRect">
            <a:avLst/>
          </a:prstGeom>
          <a:solidFill>
            <a:srgbClr val="0D1D30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04671" y="1929384"/>
            <a:ext cx="411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55D6FF"/>
                </a:solidFill>
                <a:latin typeface="Aptos"/>
              </a:rP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25880" y="1938528"/>
            <a:ext cx="257860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F5F9FF"/>
                </a:solidFill>
                <a:latin typeface="Aptos"/>
              </a:rPr>
              <a:t>APPROVED AI API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04671" y="2404872"/>
            <a:ext cx="3099816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5B8CB"/>
                </a:solidFill>
                <a:latin typeface="Aptos"/>
              </a:rPr>
              <a:t>Connect a language-model API with authentication and usage controls.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89120" y="1783080"/>
            <a:ext cx="3429000" cy="1371600"/>
          </a:xfrm>
          <a:prstGeom prst="roundRect">
            <a:avLst/>
          </a:prstGeom>
          <a:solidFill>
            <a:srgbClr val="0D1D30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53712" y="1929384"/>
            <a:ext cx="411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8B7CFF"/>
                </a:solidFill>
                <a:latin typeface="Aptos"/>
              </a:rPr>
              <a:t>→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74920" y="1938528"/>
            <a:ext cx="257860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F5F9FF"/>
                </a:solidFill>
                <a:latin typeface="Aptos"/>
              </a:rPr>
              <a:t>DOCUMENT INPUT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53712" y="2404872"/>
            <a:ext cx="3099816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5B8CB"/>
                </a:solidFill>
                <a:latin typeface="Aptos"/>
              </a:rPr>
              <a:t>Support secure uploads for meeting notes and research material.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138159" y="1783080"/>
            <a:ext cx="3429000" cy="1371600"/>
          </a:xfrm>
          <a:prstGeom prst="roundRect">
            <a:avLst/>
          </a:prstGeom>
          <a:solidFill>
            <a:srgbClr val="0D1D30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302751" y="1929384"/>
            <a:ext cx="411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66E3A8"/>
                </a:solidFill>
                <a:latin typeface="Aptos"/>
              </a:rPr>
              <a:t>→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23959" y="1938528"/>
            <a:ext cx="257860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F5F9FF"/>
                </a:solidFill>
                <a:latin typeface="Aptos"/>
              </a:rPr>
              <a:t>CALENDAR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02751" y="2404872"/>
            <a:ext cx="3099816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5B8CB"/>
                </a:solidFill>
                <a:latin typeface="Aptos"/>
              </a:rPr>
              <a:t>Connect task planning to approved calendar systems.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40080" y="3429000"/>
            <a:ext cx="3429000" cy="1371600"/>
          </a:xfrm>
          <a:prstGeom prst="roundRect">
            <a:avLst/>
          </a:prstGeom>
          <a:solidFill>
            <a:srgbClr val="0D1D30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04671" y="3575304"/>
            <a:ext cx="411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FFD166"/>
                </a:solidFill>
                <a:latin typeface="Aptos"/>
              </a:rPr>
              <a:t>→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325880" y="3584448"/>
            <a:ext cx="257860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F5F9FF"/>
                </a:solidFill>
                <a:latin typeface="Aptos"/>
              </a:rPr>
              <a:t>ANALYTICS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4671" y="4050791"/>
            <a:ext cx="3099816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5B8CB"/>
                </a:solidFill>
                <a:latin typeface="Aptos"/>
              </a:rPr>
              <a:t>Measure actual task times and usage, not illustrative estimates.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4389120" y="3429000"/>
            <a:ext cx="3429000" cy="1371600"/>
          </a:xfrm>
          <a:prstGeom prst="roundRect">
            <a:avLst/>
          </a:prstGeom>
          <a:solidFill>
            <a:srgbClr val="0D1D30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53712" y="3575304"/>
            <a:ext cx="4114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1">
                <a:solidFill>
                  <a:srgbClr val="2C78B8"/>
                </a:solidFill>
                <a:latin typeface="Aptos"/>
              </a:rPr>
              <a:t>→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74920" y="3584448"/>
            <a:ext cx="2578608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>
                <a:solidFill>
                  <a:srgbClr val="F5F9FF"/>
                </a:solidFill>
                <a:latin typeface="Aptos"/>
              </a:rPr>
              <a:t>GOVERNANCE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53712" y="4050791"/>
            <a:ext cx="3099816" cy="6217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50" b="0">
                <a:solidFill>
                  <a:srgbClr val="A5B8CB"/>
                </a:solidFill>
                <a:latin typeface="Aptos"/>
              </a:rPr>
              <a:t>Add data retention, audit logs and organisational policies.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11480" y="0"/>
            <a:ext cx="10972" cy="6858000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148840" y="0"/>
            <a:ext cx="10972" cy="6858000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886200" y="0"/>
            <a:ext cx="10972" cy="6858000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23560" y="0"/>
            <a:ext cx="10972" cy="6858000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60920" y="0"/>
            <a:ext cx="10972" cy="6858000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098280" y="0"/>
            <a:ext cx="10972" cy="6858000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0835640" y="0"/>
            <a:ext cx="10972" cy="6858000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0" y="1097280"/>
            <a:ext cx="12191695" cy="10972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2514600"/>
            <a:ext cx="12191695" cy="10972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3931920"/>
            <a:ext cx="12191695" cy="10972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0" y="5349240"/>
            <a:ext cx="12191695" cy="10972"/>
          </a:xfrm>
          <a:prstGeom prst="rect">
            <a:avLst/>
          </a:prstGeom>
          <a:solidFill>
            <a:srgbClr val="1B364F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40080" y="6254496"/>
            <a:ext cx="1965960" cy="384048"/>
          </a:xfrm>
          <a:prstGeom prst="roundRect">
            <a:avLst/>
          </a:prstGeom>
          <a:solidFill>
            <a:srgbClr val="0D1D30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6309360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5D6FF"/>
                </a:solidFill>
                <a:latin typeface="Aptos"/>
              </a:rPr>
              <a:t>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" y="6300216"/>
            <a:ext cx="13533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A5B8CB"/>
                </a:solidFill>
                <a:latin typeface="Aptos"/>
              </a:rPr>
              <a:t>EMAIL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907791" y="6254496"/>
            <a:ext cx="1965960" cy="384048"/>
          </a:xfrm>
          <a:prstGeom prst="roundRect">
            <a:avLst/>
          </a:prstGeom>
          <a:solidFill>
            <a:srgbClr val="0D1D30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017520" y="6309360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5D6FF"/>
                </a:solidFill>
                <a:latin typeface="Aptos"/>
              </a:rPr>
              <a:t>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59" y="6300216"/>
            <a:ext cx="13533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A5B8CB"/>
                </a:solidFill>
                <a:latin typeface="Aptos"/>
              </a:rPr>
              <a:t>MEETING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75504" y="6254496"/>
            <a:ext cx="1965960" cy="384048"/>
          </a:xfrm>
          <a:prstGeom prst="roundRect">
            <a:avLst/>
          </a:prstGeom>
          <a:solidFill>
            <a:srgbClr val="0D1D30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85232" y="6309360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5D6FF"/>
                </a:solidFill>
                <a:latin typeface="Aptos"/>
              </a:rPr>
              <a:t>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05272" y="6300216"/>
            <a:ext cx="13533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A5B8CB"/>
                </a:solidFill>
                <a:latin typeface="Aptos"/>
              </a:rPr>
              <a:t>PLANNER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43215" y="6254496"/>
            <a:ext cx="1965960" cy="384048"/>
          </a:xfrm>
          <a:prstGeom prst="roundRect">
            <a:avLst/>
          </a:prstGeom>
          <a:solidFill>
            <a:srgbClr val="0D1D30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52943" y="6309360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5D6FF"/>
                </a:solidFill>
                <a:latin typeface="Aptos"/>
              </a:rPr>
              <a:t>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72983" y="6300216"/>
            <a:ext cx="13533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A5B8CB"/>
                </a:solidFill>
                <a:latin typeface="Aptos"/>
              </a:rPr>
              <a:t>RESEARCH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710928" y="6254496"/>
            <a:ext cx="1965960" cy="384048"/>
          </a:xfrm>
          <a:prstGeom prst="roundRect">
            <a:avLst/>
          </a:prstGeom>
          <a:solidFill>
            <a:srgbClr val="0D1D30"/>
          </a:solidFill>
          <a:ln>
            <a:solidFill>
              <a:srgbClr val="1B36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20655" y="6309360"/>
            <a:ext cx="32004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55D6FF"/>
                </a:solidFill>
                <a:latin typeface="Aptos"/>
              </a:rPr>
              <a:t>◉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40696" y="6300216"/>
            <a:ext cx="1353312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750" b="1">
                <a:solidFill>
                  <a:srgbClr val="A5B8CB"/>
                </a:solidFill>
                <a:latin typeface="Aptos"/>
              </a:rPr>
              <a:t>CHAT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64240" y="256032"/>
            <a:ext cx="5943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A5B8CB"/>
                </a:solidFill>
                <a:latin typeface="Aptos"/>
              </a:rPr>
              <a:t>16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256032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800" b="1">
                <a:solidFill>
                  <a:srgbClr val="55D6FF"/>
                </a:solidFill>
                <a:latin typeface="Aptos"/>
              </a:rPr>
              <a:t>15 • CONCLUSION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1143000"/>
            <a:ext cx="10927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600" b="1">
                <a:solidFill>
                  <a:srgbClr val="F5F9FF"/>
                </a:solidFill>
                <a:latin typeface="Aptos"/>
              </a:rPr>
              <a:t>WORKSMART AI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1828800"/>
            <a:ext cx="109270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>
                <a:solidFill>
                  <a:srgbClr val="55D6FF"/>
                </a:solidFill>
                <a:latin typeface="Aptos"/>
              </a:rPr>
              <a:t>A practical AI assistant for repetitive workplace work.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2788920"/>
            <a:ext cx="97840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F5F9FF"/>
                </a:solidFill>
                <a:latin typeface="Aptos"/>
              </a:rPr>
              <a:t>Structured prompts.
Useful workflows.
Responsible human oversight.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794760" y="4663440"/>
            <a:ext cx="4572000" cy="502920"/>
          </a:xfrm>
          <a:prstGeom prst="roundRect">
            <a:avLst/>
          </a:prstGeom>
          <a:solidFill>
            <a:srgbClr val="8B7CFF"/>
          </a:solidFill>
          <a:ln>
            <a:solidFill>
              <a:srgbClr val="8B7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977639" y="4800600"/>
            <a:ext cx="420624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000" b="1">
                <a:solidFill>
                  <a:srgbClr val="07111F"/>
                </a:solidFill>
                <a:latin typeface="Aptos"/>
              </a:rPr>
              <a:t>Tshidiso Prensence Monyela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40080" y="5422392"/>
            <a:ext cx="109270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950" b="1">
                <a:solidFill>
                  <a:srgbClr val="A5B8CB"/>
                </a:solidFill>
                <a:latin typeface="Aptos"/>
              </a:rPr>
              <a:t>17 September 2026  •  Live demo &amp; questions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